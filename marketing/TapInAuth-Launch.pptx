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548640" y="548640"/>
            <a:ext cx="411480" cy="411480"/>
          </a:xfrm>
          <a:prstGeom prst="rect">
            <a:avLst/>
          </a:prstGeom>
          <a:solidFill>
            <a:srgbClr val="2563EB"/>
          </a:solidFill>
          <a:ln w="12700">
            <a:solidFill>
              <a:srgbClr val="2563EB"/>
            </a:solidFill>
            <a:prstDash val="solid"/>
          </a:ln>
        </p:spPr>
      </p:sp>
      <p:sp>
        <p:nvSpPr>
          <p:cNvPr id="3" name="Shape 1"/>
          <p:cNvSpPr/>
          <p:nvPr/>
        </p:nvSpPr>
        <p:spPr>
          <a:xfrm>
            <a:off x="1051560" y="548640"/>
            <a:ext cx="164592" cy="411480"/>
          </a:xfrm>
          <a:prstGeom prst="rect">
            <a:avLst/>
          </a:prstGeom>
          <a:solidFill>
            <a:srgbClr val="22D3EE"/>
          </a:solidFill>
          <a:ln w="12700">
            <a:solidFill>
              <a:srgbClr val="22D3EE"/>
            </a:solidFill>
            <a:prstDash val="solid"/>
          </a:ln>
        </p:spPr>
      </p:sp>
      <p:sp>
        <p:nvSpPr>
          <p:cNvPr id="4" name="Text 2"/>
          <p:cNvSpPr/>
          <p:nvPr/>
        </p:nvSpPr>
        <p:spPr>
          <a:xfrm>
            <a:off x="1325880" y="502920"/>
            <a:ext cx="5486400" cy="502920"/>
          </a:xfrm>
          <a:prstGeom prst="rect">
            <a:avLst/>
          </a:prstGeom>
          <a:noFill/>
          <a:ln/>
        </p:spPr>
        <p:txBody>
          <a:bodyPr wrap="square" rtlCol="0" anchor="ctr"/>
          <a:lstStyle/>
          <a:p>
            <a:pPr indent="0" marL="0">
              <a:buNone/>
            </a:pPr>
            <a:r>
              <a:rPr lang="en-US" sz="2200" b="1" spc="100" kern="0" dirty="0">
                <a:solidFill>
                  <a:srgbClr val="F5F7FA"/>
                </a:solidFill>
                <a:latin typeface="Calibri" pitchFamily="34" charset="0"/>
                <a:ea typeface="Calibri" pitchFamily="34" charset="-122"/>
                <a:cs typeface="Calibri" pitchFamily="34" charset="-120"/>
              </a:rPr>
              <a:t>TapInAuth</a:t>
            </a:r>
            <a:endParaRPr lang="en-US" sz="2200" dirty="0"/>
          </a:p>
        </p:txBody>
      </p:sp>
      <p:sp>
        <p:nvSpPr>
          <p:cNvPr id="5" name="Text 3"/>
          <p:cNvSpPr/>
          <p:nvPr/>
        </p:nvSpPr>
        <p:spPr>
          <a:xfrm>
            <a:off x="548640" y="1920240"/>
            <a:ext cx="11064240" cy="1280160"/>
          </a:xfrm>
          <a:prstGeom prst="rect">
            <a:avLst/>
          </a:prstGeom>
          <a:noFill/>
          <a:ln/>
        </p:spPr>
        <p:txBody>
          <a:bodyPr wrap="square" rtlCol="0" anchor="t"/>
          <a:lstStyle/>
          <a:p>
            <a:pPr indent="0" marL="0">
              <a:buNone/>
            </a:pPr>
            <a:r>
              <a:rPr lang="en-US" sz="6400" b="1" dirty="0">
                <a:solidFill>
                  <a:srgbClr val="F5F7FA"/>
                </a:solidFill>
                <a:latin typeface="Calibri" pitchFamily="34" charset="0"/>
                <a:ea typeface="Calibri" pitchFamily="34" charset="-122"/>
                <a:cs typeface="Calibri" pitchFamily="34" charset="-120"/>
              </a:rPr>
              <a:t>Tap to sign in.</a:t>
            </a:r>
            <a:endParaRPr lang="en-US" sz="6400" dirty="0"/>
          </a:p>
        </p:txBody>
      </p:sp>
      <p:sp>
        <p:nvSpPr>
          <p:cNvPr id="6" name="Text 4"/>
          <p:cNvSpPr/>
          <p:nvPr/>
        </p:nvSpPr>
        <p:spPr>
          <a:xfrm>
            <a:off x="548640" y="3154680"/>
            <a:ext cx="11064240" cy="731520"/>
          </a:xfrm>
          <a:prstGeom prst="rect">
            <a:avLst/>
          </a:prstGeom>
          <a:noFill/>
          <a:ln/>
        </p:spPr>
        <p:txBody>
          <a:bodyPr wrap="square" rtlCol="0" anchor="t"/>
          <a:lstStyle/>
          <a:p>
            <a:pPr indent="0" marL="0">
              <a:buNone/>
            </a:pPr>
            <a:r>
              <a:rPr lang="en-US" sz="2200" dirty="0">
                <a:solidFill>
                  <a:srgbClr val="22D3EE"/>
                </a:solidFill>
                <a:latin typeface="Calibri" pitchFamily="34" charset="0"/>
                <a:ea typeface="Calibri" pitchFamily="34" charset="-122"/>
                <a:cs typeface="Calibri" pitchFamily="34" charset="-120"/>
              </a:rPr>
              <a:t>Drop-in passwordless authentication for ASP.NET Core and Blazor.</a:t>
            </a:r>
            <a:endParaRPr lang="en-US" sz="2200" dirty="0"/>
          </a:p>
        </p:txBody>
      </p:sp>
      <p:sp>
        <p:nvSpPr>
          <p:cNvPr id="7" name="Text 5"/>
          <p:cNvSpPr/>
          <p:nvPr/>
        </p:nvSpPr>
        <p:spPr>
          <a:xfrm>
            <a:off x="548640" y="3794760"/>
            <a:ext cx="11064240" cy="548640"/>
          </a:xfrm>
          <a:prstGeom prst="rect">
            <a:avLst/>
          </a:prstGeom>
          <a:noFill/>
          <a:ln/>
        </p:spPr>
        <p:txBody>
          <a:bodyPr wrap="square" rtlCol="0" anchor="t"/>
          <a:lstStyle/>
          <a:p>
            <a:pPr indent="0" marL="0">
              <a:buNone/>
            </a:pPr>
            <a:r>
              <a:rPr lang="en-US" sz="1600" dirty="0">
                <a:solidFill>
                  <a:srgbClr val="D8DEE9"/>
                </a:solidFill>
                <a:latin typeface="Calibri" pitchFamily="34" charset="0"/>
                <a:ea typeface="Calibri" pitchFamily="34" charset="-122"/>
                <a:cs typeface="Calibri" pitchFamily="34" charset="-120"/>
              </a:rPr>
              <a:t>Passkeys · Magic links · Email &amp; SMS OTP · Recovery codes · Multi-tenant from day one.</a:t>
            </a:r>
            <a:endParaRPr lang="en-US" sz="1600" dirty="0"/>
          </a:p>
        </p:txBody>
      </p:sp>
      <p:sp>
        <p:nvSpPr>
          <p:cNvPr id="8" name="Shape 6"/>
          <p:cNvSpPr/>
          <p:nvPr/>
        </p:nvSpPr>
        <p:spPr>
          <a:xfrm>
            <a:off x="548640" y="4709160"/>
            <a:ext cx="2606040" cy="1188720"/>
          </a:xfrm>
          <a:prstGeom prst="rect">
            <a:avLst/>
          </a:prstGeom>
          <a:solidFill>
            <a:srgbClr val="0F1730"/>
          </a:solidFill>
          <a:ln w="12700">
            <a:solidFill>
              <a:srgbClr val="1F2A48"/>
            </a:solidFill>
            <a:prstDash val="solid"/>
          </a:ln>
        </p:spPr>
      </p:sp>
      <p:sp>
        <p:nvSpPr>
          <p:cNvPr id="9" name="Text 7"/>
          <p:cNvSpPr/>
          <p:nvPr/>
        </p:nvSpPr>
        <p:spPr>
          <a:xfrm>
            <a:off x="548640" y="4800600"/>
            <a:ext cx="2606040" cy="685800"/>
          </a:xfrm>
          <a:prstGeom prst="rect">
            <a:avLst/>
          </a:prstGeom>
          <a:noFill/>
          <a:ln/>
        </p:spPr>
        <p:txBody>
          <a:bodyPr wrap="square"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9</a:t>
            </a:r>
            <a:endParaRPr lang="en-US" sz="4000" dirty="0"/>
          </a:p>
        </p:txBody>
      </p:sp>
      <p:sp>
        <p:nvSpPr>
          <p:cNvPr id="10" name="Text 8"/>
          <p:cNvSpPr/>
          <p:nvPr/>
        </p:nvSpPr>
        <p:spPr>
          <a:xfrm>
            <a:off x="548640" y="5486400"/>
            <a:ext cx="2606040" cy="365760"/>
          </a:xfrm>
          <a:prstGeom prst="rect">
            <a:avLst/>
          </a:prstGeom>
          <a:noFill/>
          <a:ln/>
        </p:spPr>
        <p:txBody>
          <a:bodyPr wrap="square" rtlCol="0" anchor="ctr"/>
          <a:lstStyle/>
          <a:p>
            <a:pPr algn="ctr" indent="0" marL="0">
              <a:buNone/>
            </a:pPr>
            <a:r>
              <a:rPr lang="en-US" sz="1100" dirty="0">
                <a:solidFill>
                  <a:srgbClr val="D8DEE9"/>
                </a:solidFill>
                <a:latin typeface="Calibri" pitchFamily="34" charset="0"/>
                <a:ea typeface="Calibri" pitchFamily="34" charset="-122"/>
                <a:cs typeface="Calibri" pitchFamily="34" charset="-120"/>
              </a:rPr>
              <a:t>NuGet packages</a:t>
            </a:r>
            <a:endParaRPr lang="en-US" sz="1100" dirty="0"/>
          </a:p>
        </p:txBody>
      </p:sp>
      <p:sp>
        <p:nvSpPr>
          <p:cNvPr id="11" name="Shape 9"/>
          <p:cNvSpPr/>
          <p:nvPr/>
        </p:nvSpPr>
        <p:spPr>
          <a:xfrm>
            <a:off x="3383280" y="4709160"/>
            <a:ext cx="2606040" cy="1188720"/>
          </a:xfrm>
          <a:prstGeom prst="rect">
            <a:avLst/>
          </a:prstGeom>
          <a:solidFill>
            <a:srgbClr val="0F1730"/>
          </a:solidFill>
          <a:ln w="12700">
            <a:solidFill>
              <a:srgbClr val="1F2A48"/>
            </a:solidFill>
            <a:prstDash val="solid"/>
          </a:ln>
        </p:spPr>
      </p:sp>
      <p:sp>
        <p:nvSpPr>
          <p:cNvPr id="12" name="Text 10"/>
          <p:cNvSpPr/>
          <p:nvPr/>
        </p:nvSpPr>
        <p:spPr>
          <a:xfrm>
            <a:off x="3383280" y="4800600"/>
            <a:ext cx="2606040" cy="685800"/>
          </a:xfrm>
          <a:prstGeom prst="rect">
            <a:avLst/>
          </a:prstGeom>
          <a:noFill/>
          <a:ln/>
        </p:spPr>
        <p:txBody>
          <a:bodyPr wrap="square"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5</a:t>
            </a:r>
            <a:endParaRPr lang="en-US" sz="4000" dirty="0"/>
          </a:p>
        </p:txBody>
      </p:sp>
      <p:sp>
        <p:nvSpPr>
          <p:cNvPr id="13" name="Text 11"/>
          <p:cNvSpPr/>
          <p:nvPr/>
        </p:nvSpPr>
        <p:spPr>
          <a:xfrm>
            <a:off x="3383280" y="5486400"/>
            <a:ext cx="2606040" cy="365760"/>
          </a:xfrm>
          <a:prstGeom prst="rect">
            <a:avLst/>
          </a:prstGeom>
          <a:noFill/>
          <a:ln/>
        </p:spPr>
        <p:txBody>
          <a:bodyPr wrap="square" rtlCol="0" anchor="ctr"/>
          <a:lstStyle/>
          <a:p>
            <a:pPr algn="ctr" indent="0" marL="0">
              <a:buNone/>
            </a:pPr>
            <a:r>
              <a:rPr lang="en-US" sz="1100" dirty="0">
                <a:solidFill>
                  <a:srgbClr val="D8DEE9"/>
                </a:solidFill>
                <a:latin typeface="Calibri" pitchFamily="34" charset="0"/>
                <a:ea typeface="Calibri" pitchFamily="34" charset="-122"/>
                <a:cs typeface="Calibri" pitchFamily="34" charset="-120"/>
              </a:rPr>
              <a:t>passwordless methods</a:t>
            </a:r>
            <a:endParaRPr lang="en-US" sz="1100" dirty="0"/>
          </a:p>
        </p:txBody>
      </p:sp>
      <p:sp>
        <p:nvSpPr>
          <p:cNvPr id="14" name="Shape 12"/>
          <p:cNvSpPr/>
          <p:nvPr/>
        </p:nvSpPr>
        <p:spPr>
          <a:xfrm>
            <a:off x="6217920" y="4709160"/>
            <a:ext cx="2606040" cy="1188720"/>
          </a:xfrm>
          <a:prstGeom prst="rect">
            <a:avLst/>
          </a:prstGeom>
          <a:solidFill>
            <a:srgbClr val="0F1730"/>
          </a:solidFill>
          <a:ln w="12700">
            <a:solidFill>
              <a:srgbClr val="1F2A48"/>
            </a:solidFill>
            <a:prstDash val="solid"/>
          </a:ln>
        </p:spPr>
      </p:sp>
      <p:sp>
        <p:nvSpPr>
          <p:cNvPr id="15" name="Text 13"/>
          <p:cNvSpPr/>
          <p:nvPr/>
        </p:nvSpPr>
        <p:spPr>
          <a:xfrm>
            <a:off x="6217920" y="4800600"/>
            <a:ext cx="2606040" cy="685800"/>
          </a:xfrm>
          <a:prstGeom prst="rect">
            <a:avLst/>
          </a:prstGeom>
          <a:noFill/>
          <a:ln/>
        </p:spPr>
        <p:txBody>
          <a:bodyPr wrap="square"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4</a:t>
            </a:r>
            <a:endParaRPr lang="en-US" sz="4000" dirty="0"/>
          </a:p>
        </p:txBody>
      </p:sp>
      <p:sp>
        <p:nvSpPr>
          <p:cNvPr id="16" name="Text 14"/>
          <p:cNvSpPr/>
          <p:nvPr/>
        </p:nvSpPr>
        <p:spPr>
          <a:xfrm>
            <a:off x="6217920" y="5486400"/>
            <a:ext cx="2606040" cy="365760"/>
          </a:xfrm>
          <a:prstGeom prst="rect">
            <a:avLst/>
          </a:prstGeom>
          <a:noFill/>
          <a:ln/>
        </p:spPr>
        <p:txBody>
          <a:bodyPr wrap="square" rtlCol="0" anchor="ctr"/>
          <a:lstStyle/>
          <a:p>
            <a:pPr algn="ctr" indent="0" marL="0">
              <a:buNone/>
            </a:pPr>
            <a:r>
              <a:rPr lang="en-US" sz="1100" dirty="0">
                <a:solidFill>
                  <a:srgbClr val="D8DEE9"/>
                </a:solidFill>
                <a:latin typeface="Calibri" pitchFamily="34" charset="0"/>
                <a:ea typeface="Calibri" pitchFamily="34" charset="-122"/>
                <a:cs typeface="Calibri" pitchFamily="34" charset="-120"/>
              </a:rPr>
              <a:t>sample apps</a:t>
            </a:r>
            <a:endParaRPr lang="en-US" sz="1100" dirty="0"/>
          </a:p>
        </p:txBody>
      </p:sp>
      <p:sp>
        <p:nvSpPr>
          <p:cNvPr id="17" name="Shape 15"/>
          <p:cNvSpPr/>
          <p:nvPr/>
        </p:nvSpPr>
        <p:spPr>
          <a:xfrm>
            <a:off x="9052560" y="4709160"/>
            <a:ext cx="2606040" cy="1188720"/>
          </a:xfrm>
          <a:prstGeom prst="rect">
            <a:avLst/>
          </a:prstGeom>
          <a:solidFill>
            <a:srgbClr val="0F1730"/>
          </a:solidFill>
          <a:ln w="12700">
            <a:solidFill>
              <a:srgbClr val="1F2A48"/>
            </a:solidFill>
            <a:prstDash val="solid"/>
          </a:ln>
        </p:spPr>
      </p:sp>
      <p:sp>
        <p:nvSpPr>
          <p:cNvPr id="18" name="Text 16"/>
          <p:cNvSpPr/>
          <p:nvPr/>
        </p:nvSpPr>
        <p:spPr>
          <a:xfrm>
            <a:off x="9052560" y="4800600"/>
            <a:ext cx="2606040" cy="685800"/>
          </a:xfrm>
          <a:prstGeom prst="rect">
            <a:avLst/>
          </a:prstGeom>
          <a:noFill/>
          <a:ln/>
        </p:spPr>
        <p:txBody>
          <a:bodyPr wrap="square" rtlCol="0" anchor="ctr"/>
          <a:lstStyle/>
          <a:p>
            <a:pPr algn="ctr" indent="0" marL="0">
              <a:buNone/>
            </a:pPr>
            <a:r>
              <a:rPr lang="en-US" sz="4000" b="1" dirty="0">
                <a:solidFill>
                  <a:srgbClr val="22D3EE"/>
                </a:solidFill>
                <a:latin typeface="Calibri" pitchFamily="34" charset="0"/>
                <a:ea typeface="Calibri" pitchFamily="34" charset="-122"/>
                <a:cs typeface="Calibri" pitchFamily="34" charset="-120"/>
              </a:rPr>
              <a:t>MIT</a:t>
            </a:r>
            <a:endParaRPr lang="en-US" sz="4000" dirty="0"/>
          </a:p>
        </p:txBody>
      </p:sp>
      <p:sp>
        <p:nvSpPr>
          <p:cNvPr id="19" name="Text 17"/>
          <p:cNvSpPr/>
          <p:nvPr/>
        </p:nvSpPr>
        <p:spPr>
          <a:xfrm>
            <a:off x="9052560" y="5486400"/>
            <a:ext cx="2606040" cy="365760"/>
          </a:xfrm>
          <a:prstGeom prst="rect">
            <a:avLst/>
          </a:prstGeom>
          <a:noFill/>
          <a:ln/>
        </p:spPr>
        <p:txBody>
          <a:bodyPr wrap="square" rtlCol="0" anchor="ctr"/>
          <a:lstStyle/>
          <a:p>
            <a:pPr algn="ctr" indent="0" marL="0">
              <a:buNone/>
            </a:pPr>
            <a:r>
              <a:rPr lang="en-US" sz="1100" dirty="0">
                <a:solidFill>
                  <a:srgbClr val="D8DEE9"/>
                </a:solidFill>
                <a:latin typeface="Calibri" pitchFamily="34" charset="0"/>
                <a:ea typeface="Calibri" pitchFamily="34" charset="-122"/>
                <a:cs typeface="Calibri" pitchFamily="34" charset="-120"/>
              </a:rPr>
              <a:t>open source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2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THE PROBLEM</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Passwords are dead. Passwordless in .NET is fragmented.</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Every team rebuilds the same pieces by hand — and the UX always lags behind the SaaS competitors.</a:t>
            </a:r>
            <a:endParaRPr lang="en-US" sz="1500" dirty="0"/>
          </a:p>
        </p:txBody>
      </p:sp>
      <p:sp>
        <p:nvSpPr>
          <p:cNvPr id="12" name="Shape 10"/>
          <p:cNvSpPr/>
          <p:nvPr/>
        </p:nvSpPr>
        <p:spPr>
          <a:xfrm>
            <a:off x="457200" y="2743200"/>
            <a:ext cx="5486400" cy="1554480"/>
          </a:xfrm>
          <a:prstGeom prst="rect">
            <a:avLst/>
          </a:prstGeom>
          <a:solidFill>
            <a:srgbClr val="0F1730"/>
          </a:solidFill>
          <a:ln w="12700">
            <a:solidFill>
              <a:srgbClr val="1F2A48"/>
            </a:solidFill>
            <a:prstDash val="solid"/>
          </a:ln>
        </p:spPr>
      </p:sp>
      <p:sp>
        <p:nvSpPr>
          <p:cNvPr id="13" name="Shape 11"/>
          <p:cNvSpPr/>
          <p:nvPr/>
        </p:nvSpPr>
        <p:spPr>
          <a:xfrm>
            <a:off x="457200" y="2743200"/>
            <a:ext cx="73152" cy="1554480"/>
          </a:xfrm>
          <a:prstGeom prst="rect">
            <a:avLst/>
          </a:prstGeom>
          <a:solidFill>
            <a:srgbClr val="F472B6"/>
          </a:solidFill>
          <a:ln w="12700">
            <a:solidFill>
              <a:srgbClr val="F472B6"/>
            </a:solidFill>
            <a:prstDash val="solid"/>
          </a:ln>
        </p:spPr>
      </p:sp>
      <p:sp>
        <p:nvSpPr>
          <p:cNvPr id="14" name="Text 12"/>
          <p:cNvSpPr/>
          <p:nvPr/>
        </p:nvSpPr>
        <p:spPr>
          <a:xfrm>
            <a:off x="731520" y="2880360"/>
            <a:ext cx="5120640" cy="411480"/>
          </a:xfrm>
          <a:prstGeom prst="rect">
            <a:avLst/>
          </a:prstGeom>
          <a:noFill/>
          <a:ln/>
        </p:spPr>
        <p:txBody>
          <a:bodyPr wrap="square"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Passkeys are a protocol</a:t>
            </a:r>
            <a:endParaRPr lang="en-US" sz="1600" dirty="0"/>
          </a:p>
        </p:txBody>
      </p:sp>
      <p:sp>
        <p:nvSpPr>
          <p:cNvPr id="15" name="Text 13"/>
          <p:cNvSpPr/>
          <p:nvPr/>
        </p:nvSpPr>
        <p:spPr>
          <a:xfrm>
            <a:off x="731520" y="3337560"/>
            <a:ext cx="5120640" cy="914400"/>
          </a:xfrm>
          <a:prstGeom prst="rect">
            <a:avLst/>
          </a:prstGeom>
          <a:noFill/>
          <a:ln/>
        </p:spPr>
        <p:txBody>
          <a:bodyPr wrap="square" rtlCol="0" anchor="t"/>
          <a:lstStyle/>
          <a:p>
            <a:pPr indent="0" marL="0">
              <a:buNone/>
            </a:pPr>
            <a:r>
              <a:rPr lang="en-US" sz="1200" dirty="0">
                <a:solidFill>
                  <a:srgbClr val="D8DEE9"/>
                </a:solidFill>
                <a:latin typeface="Calibri" pitchFamily="34" charset="0"/>
                <a:ea typeface="Calibri" pitchFamily="34" charset="-122"/>
                <a:cs typeface="Calibri" pitchFamily="34" charset="-120"/>
              </a:rPr>
              <a:t>fido2-net-lib gives you the bits. You still write registration, assertion, the ceremonies, the UI, the recovery path.</a:t>
            </a:r>
            <a:endParaRPr lang="en-US" sz="1200" dirty="0"/>
          </a:p>
        </p:txBody>
      </p:sp>
      <p:sp>
        <p:nvSpPr>
          <p:cNvPr id="16" name="Shape 14"/>
          <p:cNvSpPr/>
          <p:nvPr/>
        </p:nvSpPr>
        <p:spPr>
          <a:xfrm>
            <a:off x="6126480" y="2743200"/>
            <a:ext cx="5486400" cy="1554480"/>
          </a:xfrm>
          <a:prstGeom prst="rect">
            <a:avLst/>
          </a:prstGeom>
          <a:solidFill>
            <a:srgbClr val="0F1730"/>
          </a:solidFill>
          <a:ln w="12700">
            <a:solidFill>
              <a:srgbClr val="1F2A48"/>
            </a:solidFill>
            <a:prstDash val="solid"/>
          </a:ln>
        </p:spPr>
      </p:sp>
      <p:sp>
        <p:nvSpPr>
          <p:cNvPr id="17" name="Shape 15"/>
          <p:cNvSpPr/>
          <p:nvPr/>
        </p:nvSpPr>
        <p:spPr>
          <a:xfrm>
            <a:off x="6126480" y="2743200"/>
            <a:ext cx="73152" cy="1554480"/>
          </a:xfrm>
          <a:prstGeom prst="rect">
            <a:avLst/>
          </a:prstGeom>
          <a:solidFill>
            <a:srgbClr val="F472B6"/>
          </a:solidFill>
          <a:ln w="12700">
            <a:solidFill>
              <a:srgbClr val="F472B6"/>
            </a:solidFill>
            <a:prstDash val="solid"/>
          </a:ln>
        </p:spPr>
      </p:sp>
      <p:sp>
        <p:nvSpPr>
          <p:cNvPr id="18" name="Text 16"/>
          <p:cNvSpPr/>
          <p:nvPr/>
        </p:nvSpPr>
        <p:spPr>
          <a:xfrm>
            <a:off x="6400800" y="2880360"/>
            <a:ext cx="5120640" cy="411480"/>
          </a:xfrm>
          <a:prstGeom prst="rect">
            <a:avLst/>
          </a:prstGeom>
          <a:noFill/>
          <a:ln/>
        </p:spPr>
        <p:txBody>
          <a:bodyPr wrap="square"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Magic links are bespoke</a:t>
            </a:r>
            <a:endParaRPr lang="en-US" sz="1600" dirty="0"/>
          </a:p>
        </p:txBody>
      </p:sp>
      <p:sp>
        <p:nvSpPr>
          <p:cNvPr id="19" name="Text 17"/>
          <p:cNvSpPr/>
          <p:nvPr/>
        </p:nvSpPr>
        <p:spPr>
          <a:xfrm>
            <a:off x="6400800" y="3337560"/>
            <a:ext cx="5120640" cy="914400"/>
          </a:xfrm>
          <a:prstGeom prst="rect">
            <a:avLst/>
          </a:prstGeom>
          <a:noFill/>
          <a:ln/>
        </p:spPr>
        <p:txBody>
          <a:bodyPr wrap="square" rtlCol="0" anchor="t"/>
          <a:lstStyle/>
          <a:p>
            <a:pPr indent="0" marL="0">
              <a:buNone/>
            </a:pPr>
            <a:r>
              <a:rPr lang="en-US" sz="1200" dirty="0">
                <a:solidFill>
                  <a:srgbClr val="D8DEE9"/>
                </a:solidFill>
                <a:latin typeface="Calibri" pitchFamily="34" charset="0"/>
                <a:ea typeface="Calibri" pitchFamily="34" charset="-122"/>
                <a:cs typeface="Calibri" pitchFamily="34" charset="-120"/>
              </a:rPr>
              <a:t>Every codebase reinvents token issuance, single-use redemption, prefetcher protection, rate limiting.</a:t>
            </a:r>
            <a:endParaRPr lang="en-US" sz="1200" dirty="0"/>
          </a:p>
        </p:txBody>
      </p:sp>
      <p:sp>
        <p:nvSpPr>
          <p:cNvPr id="20" name="Shape 18"/>
          <p:cNvSpPr/>
          <p:nvPr/>
        </p:nvSpPr>
        <p:spPr>
          <a:xfrm>
            <a:off x="457200" y="4434840"/>
            <a:ext cx="5486400" cy="1554480"/>
          </a:xfrm>
          <a:prstGeom prst="rect">
            <a:avLst/>
          </a:prstGeom>
          <a:solidFill>
            <a:srgbClr val="0F1730"/>
          </a:solidFill>
          <a:ln w="12700">
            <a:solidFill>
              <a:srgbClr val="1F2A48"/>
            </a:solidFill>
            <a:prstDash val="solid"/>
          </a:ln>
        </p:spPr>
      </p:sp>
      <p:sp>
        <p:nvSpPr>
          <p:cNvPr id="21" name="Shape 19"/>
          <p:cNvSpPr/>
          <p:nvPr/>
        </p:nvSpPr>
        <p:spPr>
          <a:xfrm>
            <a:off x="457200" y="4434840"/>
            <a:ext cx="73152" cy="1554480"/>
          </a:xfrm>
          <a:prstGeom prst="rect">
            <a:avLst/>
          </a:prstGeom>
          <a:solidFill>
            <a:srgbClr val="F472B6"/>
          </a:solidFill>
          <a:ln w="12700">
            <a:solidFill>
              <a:srgbClr val="F472B6"/>
            </a:solidFill>
            <a:prstDash val="solid"/>
          </a:ln>
        </p:spPr>
      </p:sp>
      <p:sp>
        <p:nvSpPr>
          <p:cNvPr id="22" name="Text 20"/>
          <p:cNvSpPr/>
          <p:nvPr/>
        </p:nvSpPr>
        <p:spPr>
          <a:xfrm>
            <a:off x="731520" y="4572000"/>
            <a:ext cx="5120640" cy="411480"/>
          </a:xfrm>
          <a:prstGeom prst="rect">
            <a:avLst/>
          </a:prstGeom>
          <a:noFill/>
          <a:ln/>
        </p:spPr>
        <p:txBody>
          <a:bodyPr wrap="square"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Identity ships a template</a:t>
            </a:r>
            <a:endParaRPr lang="en-US" sz="1600" dirty="0"/>
          </a:p>
        </p:txBody>
      </p:sp>
      <p:sp>
        <p:nvSpPr>
          <p:cNvPr id="23" name="Text 21"/>
          <p:cNvSpPr/>
          <p:nvPr/>
        </p:nvSpPr>
        <p:spPr>
          <a:xfrm>
            <a:off x="731520" y="5029200"/>
            <a:ext cx="5120640" cy="914400"/>
          </a:xfrm>
          <a:prstGeom prst="rect">
            <a:avLst/>
          </a:prstGeom>
          <a:noFill/>
          <a:ln/>
        </p:spPr>
        <p:txBody>
          <a:bodyPr wrap="square" rtlCol="0" anchor="t"/>
          <a:lstStyle/>
          <a:p>
            <a:pPr indent="0" marL="0">
              <a:buNone/>
            </a:pPr>
            <a:r>
              <a:rPr lang="en-US" sz="1200" dirty="0">
                <a:solidFill>
                  <a:srgbClr val="D8DEE9"/>
                </a:solidFill>
                <a:latin typeface="Calibri" pitchFamily="34" charset="0"/>
                <a:ea typeface="Calibri" pitchFamily="34" charset="-122"/>
                <a:cs typeface="Calibri" pitchFamily="34" charset="-120"/>
              </a:rPr>
              <a:t>Great if you're starting fresh. Useless if you already have an Identity app and want to add passwordless to it.</a:t>
            </a:r>
            <a:endParaRPr lang="en-US" sz="1200" dirty="0"/>
          </a:p>
        </p:txBody>
      </p:sp>
      <p:sp>
        <p:nvSpPr>
          <p:cNvPr id="24" name="Shape 22"/>
          <p:cNvSpPr/>
          <p:nvPr/>
        </p:nvSpPr>
        <p:spPr>
          <a:xfrm>
            <a:off x="6126480" y="4434840"/>
            <a:ext cx="5486400" cy="1554480"/>
          </a:xfrm>
          <a:prstGeom prst="rect">
            <a:avLst/>
          </a:prstGeom>
          <a:solidFill>
            <a:srgbClr val="0F1730"/>
          </a:solidFill>
          <a:ln w="12700">
            <a:solidFill>
              <a:srgbClr val="1F2A48"/>
            </a:solidFill>
            <a:prstDash val="solid"/>
          </a:ln>
        </p:spPr>
      </p:sp>
      <p:sp>
        <p:nvSpPr>
          <p:cNvPr id="25" name="Shape 23"/>
          <p:cNvSpPr/>
          <p:nvPr/>
        </p:nvSpPr>
        <p:spPr>
          <a:xfrm>
            <a:off x="6126480" y="4434840"/>
            <a:ext cx="73152" cy="1554480"/>
          </a:xfrm>
          <a:prstGeom prst="rect">
            <a:avLst/>
          </a:prstGeom>
          <a:solidFill>
            <a:srgbClr val="F472B6"/>
          </a:solidFill>
          <a:ln w="12700">
            <a:solidFill>
              <a:srgbClr val="F472B6"/>
            </a:solidFill>
            <a:prstDash val="solid"/>
          </a:ln>
        </p:spPr>
      </p:sp>
      <p:sp>
        <p:nvSpPr>
          <p:cNvPr id="26" name="Text 24"/>
          <p:cNvSpPr/>
          <p:nvPr/>
        </p:nvSpPr>
        <p:spPr>
          <a:xfrm>
            <a:off x="6400800" y="4572000"/>
            <a:ext cx="5120640" cy="411480"/>
          </a:xfrm>
          <a:prstGeom prst="rect">
            <a:avLst/>
          </a:prstGeom>
          <a:noFill/>
          <a:ln/>
        </p:spPr>
        <p:txBody>
          <a:bodyPr wrap="square"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Multi-tenant is an afterthought</a:t>
            </a:r>
            <a:endParaRPr lang="en-US" sz="1600" dirty="0"/>
          </a:p>
        </p:txBody>
      </p:sp>
      <p:sp>
        <p:nvSpPr>
          <p:cNvPr id="27" name="Text 25"/>
          <p:cNvSpPr/>
          <p:nvPr/>
        </p:nvSpPr>
        <p:spPr>
          <a:xfrm>
            <a:off x="6400800" y="5029200"/>
            <a:ext cx="5120640" cy="914400"/>
          </a:xfrm>
          <a:prstGeom prst="rect">
            <a:avLst/>
          </a:prstGeom>
          <a:noFill/>
          <a:ln/>
        </p:spPr>
        <p:txBody>
          <a:bodyPr wrap="square" rtlCol="0" anchor="t"/>
          <a:lstStyle/>
          <a:p>
            <a:pPr indent="0" marL="0">
              <a:buNone/>
            </a:pPr>
            <a:r>
              <a:rPr lang="en-US" sz="1200" dirty="0">
                <a:solidFill>
                  <a:srgbClr val="D8DEE9"/>
                </a:solidFill>
                <a:latin typeface="Calibri" pitchFamily="34" charset="0"/>
                <a:ea typeface="Calibri" pitchFamily="34" charset="-122"/>
                <a:cs typeface="Calibri" pitchFamily="34" charset="-120"/>
              </a:rPr>
              <a:t>Branding, isolation, per-tenant credentials — usually grafted on after the fact, expensively.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3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THE VISION</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One NuGet. Full UX. Brand-themed. Tenant-aware.</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Add four lines to Program.cs. Get a complete sign-in flow that looks like it was designed for your product.</a:t>
            </a:r>
            <a:endParaRPr lang="en-US" sz="1500" dirty="0"/>
          </a:p>
        </p:txBody>
      </p:sp>
      <p:sp>
        <p:nvSpPr>
          <p:cNvPr id="12" name="Shape 10"/>
          <p:cNvSpPr/>
          <p:nvPr/>
        </p:nvSpPr>
        <p:spPr>
          <a:xfrm>
            <a:off x="457200" y="2834640"/>
            <a:ext cx="7498080" cy="3383280"/>
          </a:xfrm>
          <a:prstGeom prst="rect">
            <a:avLst/>
          </a:prstGeom>
          <a:solidFill>
            <a:srgbClr val="0F1730"/>
          </a:solidFill>
          <a:ln w="12700">
            <a:solidFill>
              <a:srgbClr val="1F2A48"/>
            </a:solidFill>
            <a:prstDash val="solid"/>
          </a:ln>
        </p:spPr>
      </p:sp>
      <p:sp>
        <p:nvSpPr>
          <p:cNvPr id="13" name="Text 11"/>
          <p:cNvSpPr/>
          <p:nvPr/>
        </p:nvSpPr>
        <p:spPr>
          <a:xfrm>
            <a:off x="640080" y="2743200"/>
            <a:ext cx="914400" cy="1371600"/>
          </a:xfrm>
          <a:prstGeom prst="rect">
            <a:avLst/>
          </a:prstGeom>
          <a:noFill/>
          <a:ln/>
        </p:spPr>
        <p:txBody>
          <a:bodyPr wrap="square" rtlCol="0" anchor="ctr"/>
          <a:lstStyle/>
          <a:p>
            <a:pPr indent="0" marL="0">
              <a:buNone/>
            </a:pPr>
            <a:r>
              <a:rPr lang="en-US" sz="9000" b="1" dirty="0">
                <a:solidFill>
                  <a:srgbClr val="22D3EE"/>
                </a:solidFill>
                <a:latin typeface="Calibri" pitchFamily="34" charset="0"/>
                <a:ea typeface="Calibri" pitchFamily="34" charset="-122"/>
                <a:cs typeface="Calibri" pitchFamily="34" charset="-120"/>
              </a:rPr>
              <a:t>“</a:t>
            </a:r>
            <a:endParaRPr lang="en-US" sz="9000" dirty="0"/>
          </a:p>
        </p:txBody>
      </p:sp>
      <p:sp>
        <p:nvSpPr>
          <p:cNvPr id="14" name="Text 12"/>
          <p:cNvSpPr/>
          <p:nvPr/>
        </p:nvSpPr>
        <p:spPr>
          <a:xfrm>
            <a:off x="1463040" y="3108960"/>
            <a:ext cx="6309360" cy="914400"/>
          </a:xfrm>
          <a:prstGeom prst="rect">
            <a:avLst/>
          </a:prstGeom>
          <a:noFill/>
          <a:ln/>
        </p:spPr>
        <p:txBody>
          <a:bodyPr wrap="square" rtlCol="0" anchor="t"/>
          <a:lstStyle/>
          <a:p>
            <a:pPr indent="0" marL="0">
              <a:buNone/>
            </a:pPr>
            <a:r>
              <a:rPr lang="en-US" sz="2200" i="1" dirty="0">
                <a:solidFill>
                  <a:srgbClr val="F5F7FA"/>
                </a:solidFill>
                <a:latin typeface="Calibri" pitchFamily="34" charset="0"/>
                <a:ea typeface="Calibri" pitchFamily="34" charset="-122"/>
                <a:cs typeface="Calibri" pitchFamily="34" charset="-120"/>
              </a:rPr>
              <a:t>Developers shouldn't have to ship password-era UX to add modern auth.</a:t>
            </a:r>
            <a:endParaRPr lang="en-US" sz="2200" dirty="0"/>
          </a:p>
        </p:txBody>
      </p:sp>
      <p:sp>
        <p:nvSpPr>
          <p:cNvPr id="15" name="Text 13"/>
          <p:cNvSpPr/>
          <p:nvPr/>
        </p:nvSpPr>
        <p:spPr>
          <a:xfrm>
            <a:off x="1463040" y="4114800"/>
            <a:ext cx="6309360" cy="1920240"/>
          </a:xfrm>
          <a:prstGeom prst="rect">
            <a:avLst/>
          </a:prstGeom>
          <a:noFill/>
          <a:ln/>
        </p:spPr>
        <p:txBody>
          <a:bodyPr wrap="square" rtlCol="0" anchor="t"/>
          <a:lstStyle/>
          <a:p>
            <a:pPr indent="0" marL="0">
              <a:buNone/>
            </a:pPr>
            <a:r>
              <a:rPr lang="en-US" sz="1400" dirty="0">
                <a:solidFill>
                  <a:srgbClr val="D8DEE9"/>
                </a:solidFill>
                <a:latin typeface="Calibri" pitchFamily="34" charset="0"/>
                <a:ea typeface="Calibri" pitchFamily="34" charset="-122"/>
                <a:cs typeface="Calibri" pitchFamily="34" charset="-120"/>
              </a:rPr>
              <a:t>If passkeys are this much better than passwords, the developer ergonomics for adding them should be at least as good. So TapInAuth ships the protocol, the persistence, the UI, and the recovery story in one MIT-licensed NuGet — not as a tutorial.</a:t>
            </a:r>
            <a:endParaRPr lang="en-US" sz="1400" dirty="0"/>
          </a:p>
        </p:txBody>
      </p:sp>
      <p:sp>
        <p:nvSpPr>
          <p:cNvPr id="16" name="Shape 14"/>
          <p:cNvSpPr/>
          <p:nvPr/>
        </p:nvSpPr>
        <p:spPr>
          <a:xfrm>
            <a:off x="8183880" y="2834640"/>
            <a:ext cx="3520440" cy="777240"/>
          </a:xfrm>
          <a:prstGeom prst="rect">
            <a:avLst/>
          </a:prstGeom>
          <a:solidFill>
            <a:srgbClr val="0F1730"/>
          </a:solidFill>
          <a:ln w="12700">
            <a:solidFill>
              <a:srgbClr val="1F2A48"/>
            </a:solidFill>
            <a:prstDash val="solid"/>
          </a:ln>
        </p:spPr>
      </p:sp>
      <p:sp>
        <p:nvSpPr>
          <p:cNvPr id="17" name="Shape 15"/>
          <p:cNvSpPr/>
          <p:nvPr/>
        </p:nvSpPr>
        <p:spPr>
          <a:xfrm>
            <a:off x="8321040" y="2999232"/>
            <a:ext cx="457200" cy="457200"/>
          </a:xfrm>
          <a:prstGeom prst="ellipse">
            <a:avLst/>
          </a:prstGeom>
          <a:solidFill>
            <a:srgbClr val="2563EB"/>
          </a:solidFill>
          <a:ln w="12700">
            <a:solidFill>
              <a:srgbClr val="2563EB"/>
            </a:solidFill>
            <a:prstDash val="solid"/>
          </a:ln>
        </p:spPr>
      </p:sp>
      <p:sp>
        <p:nvSpPr>
          <p:cNvPr id="18" name="Text 16"/>
          <p:cNvSpPr/>
          <p:nvPr/>
        </p:nvSpPr>
        <p:spPr>
          <a:xfrm>
            <a:off x="8321040" y="2999232"/>
            <a:ext cx="457200" cy="457200"/>
          </a:xfrm>
          <a:prstGeom prst="rect">
            <a:avLst/>
          </a:prstGeom>
          <a:noFill/>
          <a:ln/>
        </p:spPr>
        <p:txBody>
          <a:bodyPr wrap="square"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8915400" y="2926080"/>
            <a:ext cx="2743200" cy="292608"/>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Drop-in</a:t>
            </a:r>
            <a:endParaRPr lang="en-US" sz="1300" dirty="0"/>
          </a:p>
        </p:txBody>
      </p:sp>
      <p:sp>
        <p:nvSpPr>
          <p:cNvPr id="20" name="Text 18"/>
          <p:cNvSpPr/>
          <p:nvPr/>
        </p:nvSpPr>
        <p:spPr>
          <a:xfrm>
            <a:off x="8915400" y="3218688"/>
            <a:ext cx="2743200" cy="384048"/>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Razor Class Library ships full UI</a:t>
            </a:r>
            <a:endParaRPr lang="en-US" sz="1050" dirty="0"/>
          </a:p>
        </p:txBody>
      </p:sp>
      <p:sp>
        <p:nvSpPr>
          <p:cNvPr id="21" name="Shape 19"/>
          <p:cNvSpPr/>
          <p:nvPr/>
        </p:nvSpPr>
        <p:spPr>
          <a:xfrm>
            <a:off x="8183880" y="3703320"/>
            <a:ext cx="3520440" cy="777240"/>
          </a:xfrm>
          <a:prstGeom prst="rect">
            <a:avLst/>
          </a:prstGeom>
          <a:solidFill>
            <a:srgbClr val="0F1730"/>
          </a:solidFill>
          <a:ln w="12700">
            <a:solidFill>
              <a:srgbClr val="1F2A48"/>
            </a:solidFill>
            <a:prstDash val="solid"/>
          </a:ln>
        </p:spPr>
      </p:sp>
      <p:sp>
        <p:nvSpPr>
          <p:cNvPr id="22" name="Shape 20"/>
          <p:cNvSpPr/>
          <p:nvPr/>
        </p:nvSpPr>
        <p:spPr>
          <a:xfrm>
            <a:off x="8321040" y="3867912"/>
            <a:ext cx="457200" cy="457200"/>
          </a:xfrm>
          <a:prstGeom prst="ellipse">
            <a:avLst/>
          </a:prstGeom>
          <a:solidFill>
            <a:srgbClr val="2563EB"/>
          </a:solidFill>
          <a:ln w="12700">
            <a:solidFill>
              <a:srgbClr val="2563EB"/>
            </a:solidFill>
            <a:prstDash val="solid"/>
          </a:ln>
        </p:spPr>
      </p:sp>
      <p:sp>
        <p:nvSpPr>
          <p:cNvPr id="23" name="Text 21"/>
          <p:cNvSpPr/>
          <p:nvPr/>
        </p:nvSpPr>
        <p:spPr>
          <a:xfrm>
            <a:off x="8321040" y="3867912"/>
            <a:ext cx="457200" cy="457200"/>
          </a:xfrm>
          <a:prstGeom prst="rect">
            <a:avLst/>
          </a:prstGeom>
          <a:noFill/>
          <a:ln/>
        </p:spPr>
        <p:txBody>
          <a:bodyPr wrap="square"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8915400" y="3794760"/>
            <a:ext cx="2743200" cy="292608"/>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Themed</a:t>
            </a:r>
            <a:endParaRPr lang="en-US" sz="1300" dirty="0"/>
          </a:p>
        </p:txBody>
      </p:sp>
      <p:sp>
        <p:nvSpPr>
          <p:cNvPr id="25" name="Text 23"/>
          <p:cNvSpPr/>
          <p:nvPr/>
        </p:nvSpPr>
        <p:spPr>
          <a:xfrm>
            <a:off x="8915400" y="4087368"/>
            <a:ext cx="2743200" cy="384048"/>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CSS variables · dark/light · per-tenant logo</a:t>
            </a:r>
            <a:endParaRPr lang="en-US" sz="1050" dirty="0"/>
          </a:p>
        </p:txBody>
      </p:sp>
      <p:sp>
        <p:nvSpPr>
          <p:cNvPr id="26" name="Shape 24"/>
          <p:cNvSpPr/>
          <p:nvPr/>
        </p:nvSpPr>
        <p:spPr>
          <a:xfrm>
            <a:off x="8183880" y="4572000"/>
            <a:ext cx="3520440" cy="777240"/>
          </a:xfrm>
          <a:prstGeom prst="rect">
            <a:avLst/>
          </a:prstGeom>
          <a:solidFill>
            <a:srgbClr val="0F1730"/>
          </a:solidFill>
          <a:ln w="12700">
            <a:solidFill>
              <a:srgbClr val="1F2A48"/>
            </a:solidFill>
            <a:prstDash val="solid"/>
          </a:ln>
        </p:spPr>
      </p:sp>
      <p:sp>
        <p:nvSpPr>
          <p:cNvPr id="27" name="Shape 25"/>
          <p:cNvSpPr/>
          <p:nvPr/>
        </p:nvSpPr>
        <p:spPr>
          <a:xfrm>
            <a:off x="8321040" y="4736592"/>
            <a:ext cx="457200" cy="457200"/>
          </a:xfrm>
          <a:prstGeom prst="ellipse">
            <a:avLst/>
          </a:prstGeom>
          <a:solidFill>
            <a:srgbClr val="2563EB"/>
          </a:solidFill>
          <a:ln w="12700">
            <a:solidFill>
              <a:srgbClr val="2563EB"/>
            </a:solidFill>
            <a:prstDash val="solid"/>
          </a:ln>
        </p:spPr>
      </p:sp>
      <p:sp>
        <p:nvSpPr>
          <p:cNvPr id="28" name="Text 26"/>
          <p:cNvSpPr/>
          <p:nvPr/>
        </p:nvSpPr>
        <p:spPr>
          <a:xfrm>
            <a:off x="8321040" y="4736592"/>
            <a:ext cx="457200" cy="457200"/>
          </a:xfrm>
          <a:prstGeom prst="rect">
            <a:avLst/>
          </a:prstGeom>
          <a:noFill/>
          <a:ln/>
        </p:spPr>
        <p:txBody>
          <a:bodyPr wrap="square"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8915400" y="4663440"/>
            <a:ext cx="2743200" cy="292608"/>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Multi-tenant</a:t>
            </a:r>
            <a:endParaRPr lang="en-US" sz="1300" dirty="0"/>
          </a:p>
        </p:txBody>
      </p:sp>
      <p:sp>
        <p:nvSpPr>
          <p:cNvPr id="30" name="Text 28"/>
          <p:cNvSpPr/>
          <p:nvPr/>
        </p:nvSpPr>
        <p:spPr>
          <a:xfrm>
            <a:off x="8915400" y="4956048"/>
            <a:ext cx="2743200" cy="384048"/>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Isolation in the store from row 1</a:t>
            </a:r>
            <a:endParaRPr lang="en-US" sz="1050" dirty="0"/>
          </a:p>
        </p:txBody>
      </p:sp>
      <p:sp>
        <p:nvSpPr>
          <p:cNvPr id="31" name="Shape 29"/>
          <p:cNvSpPr/>
          <p:nvPr/>
        </p:nvSpPr>
        <p:spPr>
          <a:xfrm>
            <a:off x="8183880" y="5440680"/>
            <a:ext cx="3520440" cy="777240"/>
          </a:xfrm>
          <a:prstGeom prst="rect">
            <a:avLst/>
          </a:prstGeom>
          <a:solidFill>
            <a:srgbClr val="0F1730"/>
          </a:solidFill>
          <a:ln w="12700">
            <a:solidFill>
              <a:srgbClr val="1F2A48"/>
            </a:solidFill>
            <a:prstDash val="solid"/>
          </a:ln>
        </p:spPr>
      </p:sp>
      <p:sp>
        <p:nvSpPr>
          <p:cNvPr id="32" name="Shape 30"/>
          <p:cNvSpPr/>
          <p:nvPr/>
        </p:nvSpPr>
        <p:spPr>
          <a:xfrm>
            <a:off x="8321040" y="5605272"/>
            <a:ext cx="457200" cy="457200"/>
          </a:xfrm>
          <a:prstGeom prst="ellipse">
            <a:avLst/>
          </a:prstGeom>
          <a:solidFill>
            <a:srgbClr val="2563EB"/>
          </a:solidFill>
          <a:ln w="12700">
            <a:solidFill>
              <a:srgbClr val="2563EB"/>
            </a:solidFill>
            <a:prstDash val="solid"/>
          </a:ln>
        </p:spPr>
      </p:sp>
      <p:sp>
        <p:nvSpPr>
          <p:cNvPr id="33" name="Text 31"/>
          <p:cNvSpPr/>
          <p:nvPr/>
        </p:nvSpPr>
        <p:spPr>
          <a:xfrm>
            <a:off x="8321040" y="5605272"/>
            <a:ext cx="457200" cy="457200"/>
          </a:xfrm>
          <a:prstGeom prst="rect">
            <a:avLst/>
          </a:prstGeom>
          <a:noFill/>
          <a:ln/>
        </p:spPr>
        <p:txBody>
          <a:bodyPr wrap="square" rtlCol="0" anchor="ctr"/>
          <a:lstStyle/>
          <a:p>
            <a:pPr algn="ctr" indent="0" marL="0">
              <a:buNone/>
            </a:pPr>
            <a:r>
              <a:rPr lang="en-US" sz="1800" b="1" dirty="0">
                <a:solidFill>
                  <a:srgbClr val="F5F7FA"/>
                </a:solidFill>
                <a:latin typeface="Calibri" pitchFamily="34" charset="0"/>
                <a:ea typeface="Calibri" pitchFamily="34" charset="-122"/>
                <a:cs typeface="Calibri" pitchFamily="34" charset="-120"/>
              </a:rPr>
              <a:t>✓</a:t>
            </a:r>
            <a:endParaRPr lang="en-US" sz="1800" dirty="0"/>
          </a:p>
        </p:txBody>
      </p:sp>
      <p:sp>
        <p:nvSpPr>
          <p:cNvPr id="34" name="Text 32"/>
          <p:cNvSpPr/>
          <p:nvPr/>
        </p:nvSpPr>
        <p:spPr>
          <a:xfrm>
            <a:off x="8915400" y="5532120"/>
            <a:ext cx="2743200" cy="292608"/>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Identity-friendly</a:t>
            </a:r>
            <a:endParaRPr lang="en-US" sz="1300" dirty="0"/>
          </a:p>
        </p:txBody>
      </p:sp>
      <p:sp>
        <p:nvSpPr>
          <p:cNvPr id="35" name="Text 33"/>
          <p:cNvSpPr/>
          <p:nvPr/>
        </p:nvSpPr>
        <p:spPr>
          <a:xfrm>
            <a:off x="8915400" y="5824728"/>
            <a:ext cx="2743200" cy="384048"/>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Plugs into IdentityUser if you have one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4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WHAT YOU GET</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Five passwordless methods, plus bot defense.</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Mix any combination via a single Methods flags enum — TapInAuth wires the UI and endpoints to match.</a:t>
            </a:r>
            <a:endParaRPr lang="en-US" sz="1500" dirty="0"/>
          </a:p>
        </p:txBody>
      </p:sp>
      <p:sp>
        <p:nvSpPr>
          <p:cNvPr id="12" name="Shape 10"/>
          <p:cNvSpPr/>
          <p:nvPr/>
        </p:nvSpPr>
        <p:spPr>
          <a:xfrm>
            <a:off x="457200" y="2743200"/>
            <a:ext cx="3611880" cy="1645920"/>
          </a:xfrm>
          <a:prstGeom prst="rect">
            <a:avLst/>
          </a:prstGeom>
          <a:solidFill>
            <a:srgbClr val="0F1730"/>
          </a:solidFill>
          <a:ln w="12700">
            <a:solidFill>
              <a:srgbClr val="1F2A48"/>
            </a:solidFill>
            <a:prstDash val="solid"/>
          </a:ln>
        </p:spPr>
      </p:sp>
      <p:sp>
        <p:nvSpPr>
          <p:cNvPr id="13" name="Shape 11"/>
          <p:cNvSpPr/>
          <p:nvPr/>
        </p:nvSpPr>
        <p:spPr>
          <a:xfrm>
            <a:off x="685800" y="2971800"/>
            <a:ext cx="640080" cy="640080"/>
          </a:xfrm>
          <a:prstGeom prst="ellipse">
            <a:avLst/>
          </a:prstGeom>
          <a:solidFill>
            <a:srgbClr val="2563EB"/>
          </a:solidFill>
          <a:ln w="12700">
            <a:solidFill>
              <a:srgbClr val="2563EB"/>
            </a:solidFill>
            <a:prstDash val="solid"/>
          </a:ln>
        </p:spPr>
      </p:sp>
      <p:sp>
        <p:nvSpPr>
          <p:cNvPr id="14" name="Text 12"/>
          <p:cNvSpPr/>
          <p:nvPr/>
        </p:nvSpPr>
        <p:spPr>
          <a:xfrm>
            <a:off x="685800" y="2971800"/>
            <a:ext cx="640080" cy="640080"/>
          </a:xfrm>
          <a:prstGeom prst="rect">
            <a:avLst/>
          </a:prstGeom>
          <a:noFill/>
          <a:ln/>
        </p:spPr>
        <p:txBody>
          <a:bodyPr wrap="square" rtlCol="0" anchor="ctr"/>
          <a:lstStyle/>
          <a:p>
            <a:pPr algn="ctr" indent="0" marL="0">
              <a:buNone/>
            </a:pPr>
            <a:r>
              <a:rPr lang="en-US" sz="2600" b="1" dirty="0">
                <a:solidFill>
                  <a:srgbClr val="F5F7FA"/>
                </a:solidFill>
                <a:latin typeface="Calibri" pitchFamily="34" charset="0"/>
                <a:ea typeface="Calibri" pitchFamily="34" charset="-122"/>
                <a:cs typeface="Calibri" pitchFamily="34" charset="-120"/>
              </a:rPr>
              <a:t>P</a:t>
            </a:r>
            <a:endParaRPr lang="en-US" sz="2600" dirty="0"/>
          </a:p>
        </p:txBody>
      </p:sp>
      <p:sp>
        <p:nvSpPr>
          <p:cNvPr id="15" name="Text 13"/>
          <p:cNvSpPr/>
          <p:nvPr/>
        </p:nvSpPr>
        <p:spPr>
          <a:xfrm>
            <a:off x="1463040" y="3017520"/>
            <a:ext cx="2468880" cy="457200"/>
          </a:xfrm>
          <a:prstGeom prst="rect">
            <a:avLst/>
          </a:prstGeom>
          <a:noFill/>
          <a:ln/>
        </p:spPr>
        <p:txBody>
          <a:bodyPr wrap="square"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Passkeys</a:t>
            </a:r>
            <a:endParaRPr lang="en-US" sz="1700" dirty="0"/>
          </a:p>
        </p:txBody>
      </p:sp>
      <p:sp>
        <p:nvSpPr>
          <p:cNvPr id="16" name="Text 14"/>
          <p:cNvSpPr/>
          <p:nvPr/>
        </p:nvSpPr>
        <p:spPr>
          <a:xfrm>
            <a:off x="685800" y="3703320"/>
            <a:ext cx="3200400" cy="64008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WebAuthn / FIDO2. Backed by Fido2.AspNet — full ceremonies, conditional UI, cross-device.</a:t>
            </a:r>
            <a:endParaRPr lang="en-US" sz="1050" dirty="0"/>
          </a:p>
        </p:txBody>
      </p:sp>
      <p:sp>
        <p:nvSpPr>
          <p:cNvPr id="17" name="Shape 15"/>
          <p:cNvSpPr/>
          <p:nvPr/>
        </p:nvSpPr>
        <p:spPr>
          <a:xfrm>
            <a:off x="4251960" y="2743200"/>
            <a:ext cx="3611880" cy="1645920"/>
          </a:xfrm>
          <a:prstGeom prst="rect">
            <a:avLst/>
          </a:prstGeom>
          <a:solidFill>
            <a:srgbClr val="0F1730"/>
          </a:solidFill>
          <a:ln w="12700">
            <a:solidFill>
              <a:srgbClr val="1F2A48"/>
            </a:solidFill>
            <a:prstDash val="solid"/>
          </a:ln>
        </p:spPr>
      </p:sp>
      <p:sp>
        <p:nvSpPr>
          <p:cNvPr id="18" name="Shape 16"/>
          <p:cNvSpPr/>
          <p:nvPr/>
        </p:nvSpPr>
        <p:spPr>
          <a:xfrm>
            <a:off x="4480560" y="2971800"/>
            <a:ext cx="640080" cy="640080"/>
          </a:xfrm>
          <a:prstGeom prst="ellipse">
            <a:avLst/>
          </a:prstGeom>
          <a:solidFill>
            <a:srgbClr val="2563EB"/>
          </a:solidFill>
          <a:ln w="12700">
            <a:solidFill>
              <a:srgbClr val="2563EB"/>
            </a:solidFill>
            <a:prstDash val="solid"/>
          </a:ln>
        </p:spPr>
      </p:sp>
      <p:sp>
        <p:nvSpPr>
          <p:cNvPr id="19" name="Text 17"/>
          <p:cNvSpPr/>
          <p:nvPr/>
        </p:nvSpPr>
        <p:spPr>
          <a:xfrm>
            <a:off x="4480560" y="2971800"/>
            <a:ext cx="640080" cy="640080"/>
          </a:xfrm>
          <a:prstGeom prst="rect">
            <a:avLst/>
          </a:prstGeom>
          <a:noFill/>
          <a:ln/>
        </p:spPr>
        <p:txBody>
          <a:bodyPr wrap="square" rtlCol="0" anchor="ctr"/>
          <a:lstStyle/>
          <a:p>
            <a:pPr algn="ctr" indent="0" marL="0">
              <a:buNone/>
            </a:pPr>
            <a:r>
              <a:rPr lang="en-US" sz="2600" b="1" dirty="0">
                <a:solidFill>
                  <a:srgbClr val="F5F7FA"/>
                </a:solidFill>
                <a:latin typeface="Calibri" pitchFamily="34" charset="0"/>
                <a:ea typeface="Calibri" pitchFamily="34" charset="-122"/>
                <a:cs typeface="Calibri" pitchFamily="34" charset="-120"/>
              </a:rPr>
              <a:t>M</a:t>
            </a:r>
            <a:endParaRPr lang="en-US" sz="2600" dirty="0"/>
          </a:p>
        </p:txBody>
      </p:sp>
      <p:sp>
        <p:nvSpPr>
          <p:cNvPr id="20" name="Text 18"/>
          <p:cNvSpPr/>
          <p:nvPr/>
        </p:nvSpPr>
        <p:spPr>
          <a:xfrm>
            <a:off x="5257800" y="3017520"/>
            <a:ext cx="2468880" cy="457200"/>
          </a:xfrm>
          <a:prstGeom prst="rect">
            <a:avLst/>
          </a:prstGeom>
          <a:noFill/>
          <a:ln/>
        </p:spPr>
        <p:txBody>
          <a:bodyPr wrap="square"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Magic link</a:t>
            </a:r>
            <a:endParaRPr lang="en-US" sz="1700" dirty="0"/>
          </a:p>
        </p:txBody>
      </p:sp>
      <p:sp>
        <p:nvSpPr>
          <p:cNvPr id="21" name="Text 19"/>
          <p:cNvSpPr/>
          <p:nvPr/>
        </p:nvSpPr>
        <p:spPr>
          <a:xfrm>
            <a:off x="4480560" y="3703320"/>
            <a:ext cx="3200400" cy="64008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Single-use HMAC token, 5-min default lifetime, prefetcher-safe redemption.</a:t>
            </a:r>
            <a:endParaRPr lang="en-US" sz="1050" dirty="0"/>
          </a:p>
        </p:txBody>
      </p:sp>
      <p:sp>
        <p:nvSpPr>
          <p:cNvPr id="22" name="Shape 20"/>
          <p:cNvSpPr/>
          <p:nvPr/>
        </p:nvSpPr>
        <p:spPr>
          <a:xfrm>
            <a:off x="8046720" y="2743200"/>
            <a:ext cx="3611880" cy="1645920"/>
          </a:xfrm>
          <a:prstGeom prst="rect">
            <a:avLst/>
          </a:prstGeom>
          <a:solidFill>
            <a:srgbClr val="0F1730"/>
          </a:solidFill>
          <a:ln w="12700">
            <a:solidFill>
              <a:srgbClr val="1F2A48"/>
            </a:solidFill>
            <a:prstDash val="solid"/>
          </a:ln>
        </p:spPr>
      </p:sp>
      <p:sp>
        <p:nvSpPr>
          <p:cNvPr id="23" name="Shape 21"/>
          <p:cNvSpPr/>
          <p:nvPr/>
        </p:nvSpPr>
        <p:spPr>
          <a:xfrm>
            <a:off x="8275320" y="2971800"/>
            <a:ext cx="640080" cy="640080"/>
          </a:xfrm>
          <a:prstGeom prst="ellipse">
            <a:avLst/>
          </a:prstGeom>
          <a:solidFill>
            <a:srgbClr val="2563EB"/>
          </a:solidFill>
          <a:ln w="12700">
            <a:solidFill>
              <a:srgbClr val="2563EB"/>
            </a:solidFill>
            <a:prstDash val="solid"/>
          </a:ln>
        </p:spPr>
      </p:sp>
      <p:sp>
        <p:nvSpPr>
          <p:cNvPr id="24" name="Text 22"/>
          <p:cNvSpPr/>
          <p:nvPr/>
        </p:nvSpPr>
        <p:spPr>
          <a:xfrm>
            <a:off x="8275320" y="2971800"/>
            <a:ext cx="640080" cy="640080"/>
          </a:xfrm>
          <a:prstGeom prst="rect">
            <a:avLst/>
          </a:prstGeom>
          <a:noFill/>
          <a:ln/>
        </p:spPr>
        <p:txBody>
          <a:bodyPr wrap="square" rtlCol="0" anchor="ctr"/>
          <a:lstStyle/>
          <a:p>
            <a:pPr algn="ctr" indent="0" marL="0">
              <a:buNone/>
            </a:pPr>
            <a:r>
              <a:rPr lang="en-US" sz="2600" b="1" dirty="0">
                <a:solidFill>
                  <a:srgbClr val="F5F7FA"/>
                </a:solidFill>
                <a:latin typeface="Calibri" pitchFamily="34" charset="0"/>
                <a:ea typeface="Calibri" pitchFamily="34" charset="-122"/>
                <a:cs typeface="Calibri" pitchFamily="34" charset="-120"/>
              </a:rPr>
              <a:t>E</a:t>
            </a:r>
            <a:endParaRPr lang="en-US" sz="2600" dirty="0"/>
          </a:p>
        </p:txBody>
      </p:sp>
      <p:sp>
        <p:nvSpPr>
          <p:cNvPr id="25" name="Text 23"/>
          <p:cNvSpPr/>
          <p:nvPr/>
        </p:nvSpPr>
        <p:spPr>
          <a:xfrm>
            <a:off x="9052560" y="3017520"/>
            <a:ext cx="2468880" cy="457200"/>
          </a:xfrm>
          <a:prstGeom prst="rect">
            <a:avLst/>
          </a:prstGeom>
          <a:noFill/>
          <a:ln/>
        </p:spPr>
        <p:txBody>
          <a:bodyPr wrap="square"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Email OTP</a:t>
            </a:r>
            <a:endParaRPr lang="en-US" sz="1700" dirty="0"/>
          </a:p>
        </p:txBody>
      </p:sp>
      <p:sp>
        <p:nvSpPr>
          <p:cNvPr id="26" name="Text 24"/>
          <p:cNvSpPr/>
          <p:nvPr/>
        </p:nvSpPr>
        <p:spPr>
          <a:xfrm>
            <a:off x="8275320" y="3703320"/>
            <a:ext cx="3200400" cy="64008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6-digit code (configurable). Per-OTP attempt cap. Constant-time verify.</a:t>
            </a:r>
            <a:endParaRPr lang="en-US" sz="1050" dirty="0"/>
          </a:p>
        </p:txBody>
      </p:sp>
      <p:sp>
        <p:nvSpPr>
          <p:cNvPr id="27" name="Shape 25"/>
          <p:cNvSpPr/>
          <p:nvPr/>
        </p:nvSpPr>
        <p:spPr>
          <a:xfrm>
            <a:off x="457200" y="4526280"/>
            <a:ext cx="3611880" cy="1645920"/>
          </a:xfrm>
          <a:prstGeom prst="rect">
            <a:avLst/>
          </a:prstGeom>
          <a:solidFill>
            <a:srgbClr val="0F1730"/>
          </a:solidFill>
          <a:ln w="12700">
            <a:solidFill>
              <a:srgbClr val="1F2A48"/>
            </a:solidFill>
            <a:prstDash val="solid"/>
          </a:ln>
        </p:spPr>
      </p:sp>
      <p:sp>
        <p:nvSpPr>
          <p:cNvPr id="28" name="Shape 26"/>
          <p:cNvSpPr/>
          <p:nvPr/>
        </p:nvSpPr>
        <p:spPr>
          <a:xfrm>
            <a:off x="685800" y="4754880"/>
            <a:ext cx="640080" cy="640080"/>
          </a:xfrm>
          <a:prstGeom prst="ellipse">
            <a:avLst/>
          </a:prstGeom>
          <a:solidFill>
            <a:srgbClr val="2563EB"/>
          </a:solidFill>
          <a:ln w="12700">
            <a:solidFill>
              <a:srgbClr val="2563EB"/>
            </a:solidFill>
            <a:prstDash val="solid"/>
          </a:ln>
        </p:spPr>
      </p:sp>
      <p:sp>
        <p:nvSpPr>
          <p:cNvPr id="29" name="Text 27"/>
          <p:cNvSpPr/>
          <p:nvPr/>
        </p:nvSpPr>
        <p:spPr>
          <a:xfrm>
            <a:off x="685800" y="4754880"/>
            <a:ext cx="640080" cy="640080"/>
          </a:xfrm>
          <a:prstGeom prst="rect">
            <a:avLst/>
          </a:prstGeom>
          <a:noFill/>
          <a:ln/>
        </p:spPr>
        <p:txBody>
          <a:bodyPr wrap="square" rtlCol="0" anchor="ctr"/>
          <a:lstStyle/>
          <a:p>
            <a:pPr algn="ctr" indent="0" marL="0">
              <a:buNone/>
            </a:pPr>
            <a:r>
              <a:rPr lang="en-US" sz="2600" b="1" dirty="0">
                <a:solidFill>
                  <a:srgbClr val="F5F7FA"/>
                </a:solidFill>
                <a:latin typeface="Calibri" pitchFamily="34" charset="0"/>
                <a:ea typeface="Calibri" pitchFamily="34" charset="-122"/>
                <a:cs typeface="Calibri" pitchFamily="34" charset="-120"/>
              </a:rPr>
              <a:t>S</a:t>
            </a:r>
            <a:endParaRPr lang="en-US" sz="2600" dirty="0"/>
          </a:p>
        </p:txBody>
      </p:sp>
      <p:sp>
        <p:nvSpPr>
          <p:cNvPr id="30" name="Text 28"/>
          <p:cNvSpPr/>
          <p:nvPr/>
        </p:nvSpPr>
        <p:spPr>
          <a:xfrm>
            <a:off x="1463040" y="4800600"/>
            <a:ext cx="2468880" cy="457200"/>
          </a:xfrm>
          <a:prstGeom prst="rect">
            <a:avLst/>
          </a:prstGeom>
          <a:noFill/>
          <a:ln/>
        </p:spPr>
        <p:txBody>
          <a:bodyPr wrap="square"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SMS OTP</a:t>
            </a:r>
            <a:endParaRPr lang="en-US" sz="1700" dirty="0"/>
          </a:p>
        </p:txBody>
      </p:sp>
      <p:sp>
        <p:nvSpPr>
          <p:cNvPr id="31" name="Text 29"/>
          <p:cNvSpPr/>
          <p:nvPr/>
        </p:nvSpPr>
        <p:spPr>
          <a:xfrm>
            <a:off x="685800" y="5486400"/>
            <a:ext cx="3200400" cy="64008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Phone as secondary identifier. Account-page management. Twilio sender shipped.</a:t>
            </a:r>
            <a:endParaRPr lang="en-US" sz="1050" dirty="0"/>
          </a:p>
        </p:txBody>
      </p:sp>
      <p:sp>
        <p:nvSpPr>
          <p:cNvPr id="32" name="Shape 30"/>
          <p:cNvSpPr/>
          <p:nvPr/>
        </p:nvSpPr>
        <p:spPr>
          <a:xfrm>
            <a:off x="4251960" y="4526280"/>
            <a:ext cx="3611880" cy="1645920"/>
          </a:xfrm>
          <a:prstGeom prst="rect">
            <a:avLst/>
          </a:prstGeom>
          <a:solidFill>
            <a:srgbClr val="0F1730"/>
          </a:solidFill>
          <a:ln w="12700">
            <a:solidFill>
              <a:srgbClr val="1F2A48"/>
            </a:solidFill>
            <a:prstDash val="solid"/>
          </a:ln>
        </p:spPr>
      </p:sp>
      <p:sp>
        <p:nvSpPr>
          <p:cNvPr id="33" name="Shape 31"/>
          <p:cNvSpPr/>
          <p:nvPr/>
        </p:nvSpPr>
        <p:spPr>
          <a:xfrm>
            <a:off x="4480560" y="4754880"/>
            <a:ext cx="640080" cy="640080"/>
          </a:xfrm>
          <a:prstGeom prst="ellipse">
            <a:avLst/>
          </a:prstGeom>
          <a:solidFill>
            <a:srgbClr val="2563EB"/>
          </a:solidFill>
          <a:ln w="12700">
            <a:solidFill>
              <a:srgbClr val="2563EB"/>
            </a:solidFill>
            <a:prstDash val="solid"/>
          </a:ln>
        </p:spPr>
      </p:sp>
      <p:sp>
        <p:nvSpPr>
          <p:cNvPr id="34" name="Text 32"/>
          <p:cNvSpPr/>
          <p:nvPr/>
        </p:nvSpPr>
        <p:spPr>
          <a:xfrm>
            <a:off x="4480560" y="4754880"/>
            <a:ext cx="640080" cy="640080"/>
          </a:xfrm>
          <a:prstGeom prst="rect">
            <a:avLst/>
          </a:prstGeom>
          <a:noFill/>
          <a:ln/>
        </p:spPr>
        <p:txBody>
          <a:bodyPr wrap="square" rtlCol="0" anchor="ctr"/>
          <a:lstStyle/>
          <a:p>
            <a:pPr algn="ctr" indent="0" marL="0">
              <a:buNone/>
            </a:pPr>
            <a:r>
              <a:rPr lang="en-US" sz="2600" b="1" dirty="0">
                <a:solidFill>
                  <a:srgbClr val="F5F7FA"/>
                </a:solidFill>
                <a:latin typeface="Calibri" pitchFamily="34" charset="0"/>
                <a:ea typeface="Calibri" pitchFamily="34" charset="-122"/>
                <a:cs typeface="Calibri" pitchFamily="34" charset="-120"/>
              </a:rPr>
              <a:t>R</a:t>
            </a:r>
            <a:endParaRPr lang="en-US" sz="2600" dirty="0"/>
          </a:p>
        </p:txBody>
      </p:sp>
      <p:sp>
        <p:nvSpPr>
          <p:cNvPr id="35" name="Text 33"/>
          <p:cNvSpPr/>
          <p:nvPr/>
        </p:nvSpPr>
        <p:spPr>
          <a:xfrm>
            <a:off x="5257800" y="4800600"/>
            <a:ext cx="2468880" cy="457200"/>
          </a:xfrm>
          <a:prstGeom prst="rect">
            <a:avLst/>
          </a:prstGeom>
          <a:noFill/>
          <a:ln/>
        </p:spPr>
        <p:txBody>
          <a:bodyPr wrap="square"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Recovery codes</a:t>
            </a:r>
            <a:endParaRPr lang="en-US" sz="1700" dirty="0"/>
          </a:p>
        </p:txBody>
      </p:sp>
      <p:sp>
        <p:nvSpPr>
          <p:cNvPr id="36" name="Text 34"/>
          <p:cNvSpPr/>
          <p:nvPr/>
        </p:nvSpPr>
        <p:spPr>
          <a:xfrm>
            <a:off x="4480560" y="5486400"/>
            <a:ext cx="3200400" cy="64008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One-time rescue codes for when the device is gone. Regenerate any time.</a:t>
            </a:r>
            <a:endParaRPr lang="en-US" sz="1050" dirty="0"/>
          </a:p>
        </p:txBody>
      </p:sp>
      <p:sp>
        <p:nvSpPr>
          <p:cNvPr id="37" name="Shape 35"/>
          <p:cNvSpPr/>
          <p:nvPr/>
        </p:nvSpPr>
        <p:spPr>
          <a:xfrm>
            <a:off x="8046720" y="4526280"/>
            <a:ext cx="3611880" cy="1645920"/>
          </a:xfrm>
          <a:prstGeom prst="rect">
            <a:avLst/>
          </a:prstGeom>
          <a:solidFill>
            <a:srgbClr val="0F1730"/>
          </a:solidFill>
          <a:ln w="12700">
            <a:solidFill>
              <a:srgbClr val="1F2A48"/>
            </a:solidFill>
            <a:prstDash val="solid"/>
          </a:ln>
        </p:spPr>
      </p:sp>
      <p:sp>
        <p:nvSpPr>
          <p:cNvPr id="38" name="Shape 36"/>
          <p:cNvSpPr/>
          <p:nvPr/>
        </p:nvSpPr>
        <p:spPr>
          <a:xfrm>
            <a:off x="8275320" y="4754880"/>
            <a:ext cx="640080" cy="640080"/>
          </a:xfrm>
          <a:prstGeom prst="ellipse">
            <a:avLst/>
          </a:prstGeom>
          <a:solidFill>
            <a:srgbClr val="2563EB"/>
          </a:solidFill>
          <a:ln w="12700">
            <a:solidFill>
              <a:srgbClr val="2563EB"/>
            </a:solidFill>
            <a:prstDash val="solid"/>
          </a:ln>
        </p:spPr>
      </p:sp>
      <p:sp>
        <p:nvSpPr>
          <p:cNvPr id="39" name="Text 37"/>
          <p:cNvSpPr/>
          <p:nvPr/>
        </p:nvSpPr>
        <p:spPr>
          <a:xfrm>
            <a:off x="8275320" y="4754880"/>
            <a:ext cx="640080" cy="640080"/>
          </a:xfrm>
          <a:prstGeom prst="rect">
            <a:avLst/>
          </a:prstGeom>
          <a:noFill/>
          <a:ln/>
        </p:spPr>
        <p:txBody>
          <a:bodyPr wrap="square" rtlCol="0" anchor="ctr"/>
          <a:lstStyle/>
          <a:p>
            <a:pPr algn="ctr" indent="0" marL="0">
              <a:buNone/>
            </a:pPr>
            <a:r>
              <a:rPr lang="en-US" sz="2600" b="1" dirty="0">
                <a:solidFill>
                  <a:srgbClr val="F5F7FA"/>
                </a:solidFill>
                <a:latin typeface="Calibri" pitchFamily="34" charset="0"/>
                <a:ea typeface="Calibri" pitchFamily="34" charset="-122"/>
                <a:cs typeface="Calibri" pitchFamily="34" charset="-120"/>
              </a:rPr>
              <a:t>B</a:t>
            </a:r>
            <a:endParaRPr lang="en-US" sz="2600" dirty="0"/>
          </a:p>
        </p:txBody>
      </p:sp>
      <p:sp>
        <p:nvSpPr>
          <p:cNvPr id="40" name="Text 38"/>
          <p:cNvSpPr/>
          <p:nvPr/>
        </p:nvSpPr>
        <p:spPr>
          <a:xfrm>
            <a:off x="9052560" y="4800600"/>
            <a:ext cx="2468880" cy="457200"/>
          </a:xfrm>
          <a:prstGeom prst="rect">
            <a:avLst/>
          </a:prstGeom>
          <a:noFill/>
          <a:ln/>
        </p:spPr>
        <p:txBody>
          <a:bodyPr wrap="square"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Bot defense</a:t>
            </a:r>
            <a:endParaRPr lang="en-US" sz="1700" dirty="0"/>
          </a:p>
        </p:txBody>
      </p:sp>
      <p:sp>
        <p:nvSpPr>
          <p:cNvPr id="41" name="Text 39"/>
          <p:cNvSpPr/>
          <p:nvPr/>
        </p:nvSpPr>
        <p:spPr>
          <a:xfrm>
            <a:off x="8275320" y="5486400"/>
            <a:ext cx="3200400" cy="64008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Cloudflare Turnstile + hCaptcha. Auto-renders, gates issuance server-side.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5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QUICKSTART</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Four lines in Program.cs.</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That's the entire host-app surface. Sign-in, OTP entry, passkey ceremony, recovery — all in the library.</a:t>
            </a:r>
            <a:endParaRPr lang="en-US" sz="1500" dirty="0"/>
          </a:p>
        </p:txBody>
      </p:sp>
      <p:sp>
        <p:nvSpPr>
          <p:cNvPr id="12" name="Shape 10"/>
          <p:cNvSpPr/>
          <p:nvPr/>
        </p:nvSpPr>
        <p:spPr>
          <a:xfrm>
            <a:off x="457200" y="2743200"/>
            <a:ext cx="11247120" cy="3291840"/>
          </a:xfrm>
          <a:prstGeom prst="rect">
            <a:avLst/>
          </a:prstGeom>
          <a:solidFill>
            <a:srgbClr val="07101F"/>
          </a:solidFill>
          <a:ln w="12700">
            <a:solidFill>
              <a:srgbClr val="1F2A48"/>
            </a:solidFill>
            <a:prstDash val="solid"/>
          </a:ln>
        </p:spPr>
      </p:sp>
      <p:sp>
        <p:nvSpPr>
          <p:cNvPr id="13" name="Shape 11"/>
          <p:cNvSpPr/>
          <p:nvPr/>
        </p:nvSpPr>
        <p:spPr>
          <a:xfrm>
            <a:off x="457200" y="2743200"/>
            <a:ext cx="73152" cy="3291840"/>
          </a:xfrm>
          <a:prstGeom prst="rect">
            <a:avLst/>
          </a:prstGeom>
          <a:solidFill>
            <a:srgbClr val="22D3EE"/>
          </a:solidFill>
          <a:ln w="12700">
            <a:solidFill>
              <a:srgbClr val="22D3EE"/>
            </a:solidFill>
            <a:prstDash val="solid"/>
          </a:ln>
        </p:spPr>
      </p:sp>
      <p:sp>
        <p:nvSpPr>
          <p:cNvPr id="14" name="Text 12"/>
          <p:cNvSpPr/>
          <p:nvPr/>
        </p:nvSpPr>
        <p:spPr>
          <a:xfrm>
            <a:off x="777240" y="2880360"/>
            <a:ext cx="10698480" cy="329184"/>
          </a:xfrm>
          <a:prstGeom prst="rect">
            <a:avLst/>
          </a:prstGeom>
          <a:noFill/>
          <a:ln/>
        </p:spPr>
        <p:txBody>
          <a:bodyPr wrap="square" rtlCol="0" anchor="ctr"/>
          <a:lstStyle/>
          <a:p>
            <a:pPr indent="0" marL="0">
              <a:buNone/>
            </a:pPr>
            <a:r>
              <a:rPr lang="en-US" sz="1400" dirty="0">
                <a:solidFill>
                  <a:srgbClr val="F5F7FA"/>
                </a:solidFill>
                <a:latin typeface="Courier New" pitchFamily="34" charset="0"/>
                <a:ea typeface="Courier New" pitchFamily="34" charset="-122"/>
                <a:cs typeface="Courier New" pitchFamily="34" charset="-120"/>
              </a:rPr>
              <a:t>builder.Services</a:t>
            </a:r>
            <a:endParaRPr lang="en-US" sz="1400" dirty="0"/>
          </a:p>
        </p:txBody>
      </p:sp>
      <p:sp>
        <p:nvSpPr>
          <p:cNvPr id="15" name="Text 13"/>
          <p:cNvSpPr/>
          <p:nvPr/>
        </p:nvSpPr>
        <p:spPr>
          <a:xfrm>
            <a:off x="777240" y="3209544"/>
            <a:ext cx="10698480" cy="329184"/>
          </a:xfrm>
          <a:prstGeom prst="rect">
            <a:avLst/>
          </a:prstGeom>
          <a:noFill/>
          <a:ln/>
        </p:spPr>
        <p:txBody>
          <a:bodyPr wrap="square" rtlCol="0" anchor="ctr"/>
          <a:lstStyle/>
          <a:p>
            <a:pPr indent="0" marL="0">
              <a:buNone/>
            </a:pPr>
            <a:r>
              <a:rPr lang="en-US" sz="1400" dirty="0">
                <a:solidFill>
                  <a:srgbClr val="F5F7FA"/>
                </a:solidFill>
                <a:latin typeface="Courier New" pitchFamily="34" charset="0"/>
                <a:ea typeface="Courier New" pitchFamily="34" charset="-122"/>
                <a:cs typeface="Courier New" pitchFamily="34" charset="-120"/>
              </a:rPr>
              <a:t>    .AddTapInAuth(o =&gt; o.Methods = TapInAuthMethod.Passkey | TapInAuthMethod.MagicLink | TapInAuthMethod.EmailOtp)</a:t>
            </a:r>
            <a:endParaRPr lang="en-US" sz="1400" dirty="0"/>
          </a:p>
        </p:txBody>
      </p:sp>
      <p:sp>
        <p:nvSpPr>
          <p:cNvPr id="16" name="Text 14"/>
          <p:cNvSpPr/>
          <p:nvPr/>
        </p:nvSpPr>
        <p:spPr>
          <a:xfrm>
            <a:off x="777240" y="3538728"/>
            <a:ext cx="10698480" cy="329184"/>
          </a:xfrm>
          <a:prstGeom prst="rect">
            <a:avLst/>
          </a:prstGeom>
          <a:noFill/>
          <a:ln/>
        </p:spPr>
        <p:txBody>
          <a:bodyPr wrap="square" rtlCol="0" anchor="ctr"/>
          <a:lstStyle/>
          <a:p>
            <a:pPr indent="0" marL="0">
              <a:buNone/>
            </a:pPr>
            <a:r>
              <a:rPr lang="en-US" sz="1400" dirty="0">
                <a:solidFill>
                  <a:srgbClr val="F5F7FA"/>
                </a:solidFill>
                <a:latin typeface="Courier New" pitchFamily="34" charset="0"/>
                <a:ea typeface="Courier New" pitchFamily="34" charset="-122"/>
                <a:cs typeface="Courier New" pitchFamily="34" charset="-120"/>
              </a:rPr>
              <a:t>    .AddEfCoreStore&lt;AppDbContext&gt;()</a:t>
            </a:r>
            <a:endParaRPr lang="en-US" sz="1400" dirty="0"/>
          </a:p>
        </p:txBody>
      </p:sp>
      <p:sp>
        <p:nvSpPr>
          <p:cNvPr id="17" name="Text 15"/>
          <p:cNvSpPr/>
          <p:nvPr/>
        </p:nvSpPr>
        <p:spPr>
          <a:xfrm>
            <a:off x="777240" y="3867912"/>
            <a:ext cx="10698480" cy="329184"/>
          </a:xfrm>
          <a:prstGeom prst="rect">
            <a:avLst/>
          </a:prstGeom>
          <a:noFill/>
          <a:ln/>
        </p:spPr>
        <p:txBody>
          <a:bodyPr wrap="square" rtlCol="0" anchor="ctr"/>
          <a:lstStyle/>
          <a:p>
            <a:pPr indent="0" marL="0">
              <a:buNone/>
            </a:pPr>
            <a:r>
              <a:rPr lang="en-US" sz="1400" dirty="0">
                <a:solidFill>
                  <a:srgbClr val="F5F7FA"/>
                </a:solidFill>
                <a:latin typeface="Courier New" pitchFamily="34" charset="0"/>
                <a:ea typeface="Courier New" pitchFamily="34" charset="-122"/>
                <a:cs typeface="Courier New" pitchFamily="34" charset="-120"/>
              </a:rPr>
              <a:t>    .AddSmtpEmail(builder.Configuration.GetSection("Smtp"));</a:t>
            </a:r>
            <a:endParaRPr lang="en-US" sz="1400" dirty="0"/>
          </a:p>
        </p:txBody>
      </p:sp>
      <p:sp>
        <p:nvSpPr>
          <p:cNvPr id="18" name="Text 16"/>
          <p:cNvSpPr/>
          <p:nvPr/>
        </p:nvSpPr>
        <p:spPr>
          <a:xfrm>
            <a:off x="777240" y="4197096"/>
            <a:ext cx="10698480" cy="329184"/>
          </a:xfrm>
          <a:prstGeom prst="rect">
            <a:avLst/>
          </a:prstGeom>
          <a:noFill/>
          <a:ln/>
        </p:spPr>
        <p:txBody>
          <a:bodyPr wrap="square" rtlCol="0" anchor="ctr"/>
          <a:lstStyle/>
          <a:p>
            <a:pPr indent="0" marL="0">
              <a:buNone/>
            </a:pPr>
            <a:endParaRPr lang="en-US" sz="1400" dirty="0"/>
          </a:p>
        </p:txBody>
      </p:sp>
      <p:sp>
        <p:nvSpPr>
          <p:cNvPr id="19" name="Text 17"/>
          <p:cNvSpPr/>
          <p:nvPr/>
        </p:nvSpPr>
        <p:spPr>
          <a:xfrm>
            <a:off x="777240" y="4526280"/>
            <a:ext cx="10698480" cy="329184"/>
          </a:xfrm>
          <a:prstGeom prst="rect">
            <a:avLst/>
          </a:prstGeom>
          <a:noFill/>
          <a:ln/>
        </p:spPr>
        <p:txBody>
          <a:bodyPr wrap="square" rtlCol="0" anchor="ctr"/>
          <a:lstStyle/>
          <a:p>
            <a:pPr indent="0" marL="0">
              <a:buNone/>
            </a:pPr>
            <a:r>
              <a:rPr lang="en-US" sz="1400" dirty="0">
                <a:solidFill>
                  <a:srgbClr val="8B95AD"/>
                </a:solidFill>
                <a:latin typeface="Courier New" pitchFamily="34" charset="0"/>
                <a:ea typeface="Courier New" pitchFamily="34" charset="-122"/>
                <a:cs typeface="Courier New" pitchFamily="34" charset="-120"/>
              </a:rPr>
              <a:t>app.UseAuthentication();</a:t>
            </a:r>
            <a:endParaRPr lang="en-US" sz="1400" dirty="0"/>
          </a:p>
        </p:txBody>
      </p:sp>
      <p:sp>
        <p:nvSpPr>
          <p:cNvPr id="20" name="Text 18"/>
          <p:cNvSpPr/>
          <p:nvPr/>
        </p:nvSpPr>
        <p:spPr>
          <a:xfrm>
            <a:off x="777240" y="4855464"/>
            <a:ext cx="10698480" cy="329184"/>
          </a:xfrm>
          <a:prstGeom prst="rect">
            <a:avLst/>
          </a:prstGeom>
          <a:noFill/>
          <a:ln/>
        </p:spPr>
        <p:txBody>
          <a:bodyPr wrap="square" rtlCol="0" anchor="ctr"/>
          <a:lstStyle/>
          <a:p>
            <a:pPr indent="0" marL="0">
              <a:buNone/>
            </a:pPr>
            <a:r>
              <a:rPr lang="en-US" sz="1400" dirty="0">
                <a:solidFill>
                  <a:srgbClr val="8B95AD"/>
                </a:solidFill>
                <a:latin typeface="Courier New" pitchFamily="34" charset="0"/>
                <a:ea typeface="Courier New" pitchFamily="34" charset="-122"/>
                <a:cs typeface="Courier New" pitchFamily="34" charset="-120"/>
              </a:rPr>
              <a:t>app.UseAuthorization();</a:t>
            </a:r>
            <a:endParaRPr lang="en-US" sz="1400" dirty="0"/>
          </a:p>
        </p:txBody>
      </p:sp>
      <p:sp>
        <p:nvSpPr>
          <p:cNvPr id="21" name="Text 19"/>
          <p:cNvSpPr/>
          <p:nvPr/>
        </p:nvSpPr>
        <p:spPr>
          <a:xfrm>
            <a:off x="777240" y="5184648"/>
            <a:ext cx="10698480" cy="329184"/>
          </a:xfrm>
          <a:prstGeom prst="rect">
            <a:avLst/>
          </a:prstGeom>
          <a:noFill/>
          <a:ln/>
        </p:spPr>
        <p:txBody>
          <a:bodyPr wrap="square" rtlCol="0" anchor="ctr"/>
          <a:lstStyle/>
          <a:p>
            <a:pPr indent="0" marL="0">
              <a:buNone/>
            </a:pPr>
            <a:r>
              <a:rPr lang="en-US" sz="1400" dirty="0">
                <a:solidFill>
                  <a:srgbClr val="22D3EE"/>
                </a:solidFill>
                <a:latin typeface="Courier New" pitchFamily="34" charset="0"/>
                <a:ea typeface="Courier New" pitchFamily="34" charset="-122"/>
                <a:cs typeface="Courier New" pitchFamily="34" charset="-120"/>
              </a:rPr>
              <a:t>app.MapRazorPages();   // surfaces TapInAuth.UI sign-in + OTP + passkey + recovery pages</a:t>
            </a:r>
            <a:endParaRPr lang="en-US" sz="1400" dirty="0"/>
          </a:p>
        </p:txBody>
      </p:sp>
      <p:sp>
        <p:nvSpPr>
          <p:cNvPr id="22" name="Text 20"/>
          <p:cNvSpPr/>
          <p:nvPr/>
        </p:nvSpPr>
        <p:spPr>
          <a:xfrm>
            <a:off x="777240" y="5513832"/>
            <a:ext cx="10698480" cy="329184"/>
          </a:xfrm>
          <a:prstGeom prst="rect">
            <a:avLst/>
          </a:prstGeom>
          <a:noFill/>
          <a:ln/>
        </p:spPr>
        <p:txBody>
          <a:bodyPr wrap="square" rtlCol="0" anchor="ctr"/>
          <a:lstStyle/>
          <a:p>
            <a:pPr indent="0" marL="0">
              <a:buNone/>
            </a:pPr>
            <a:r>
              <a:rPr lang="en-US" sz="1400" dirty="0">
                <a:solidFill>
                  <a:srgbClr val="22D3EE"/>
                </a:solidFill>
                <a:latin typeface="Courier New" pitchFamily="34" charset="0"/>
                <a:ea typeface="Courier New" pitchFamily="34" charset="-122"/>
                <a:cs typeface="Courier New" pitchFamily="34" charset="-120"/>
              </a:rPr>
              <a:t>app.MapTapInAuth();    // mounts /auth/* endpoints</a:t>
            </a:r>
            <a:endParaRPr lang="en-US" sz="1400" dirty="0"/>
          </a:p>
        </p:txBody>
      </p:sp>
      <p:sp>
        <p:nvSpPr>
          <p:cNvPr id="23" name="Text 21"/>
          <p:cNvSpPr/>
          <p:nvPr/>
        </p:nvSpPr>
        <p:spPr>
          <a:xfrm>
            <a:off x="457200" y="6126480"/>
            <a:ext cx="11247120" cy="274320"/>
          </a:xfrm>
          <a:prstGeom prst="rect">
            <a:avLst/>
          </a:prstGeom>
          <a:noFill/>
          <a:ln/>
        </p:spPr>
        <p:txBody>
          <a:bodyPr wrap="square" rtlCol="0" anchor="ctr"/>
          <a:lstStyle/>
          <a:p>
            <a:pPr indent="0" marL="0">
              <a:buNone/>
            </a:pPr>
            <a:r>
              <a:rPr lang="en-US" sz="1200" i="1" dirty="0">
                <a:solidFill>
                  <a:srgbClr val="F472B6"/>
                </a:solidFill>
                <a:latin typeface="Calibri" pitchFamily="34" charset="0"/>
                <a:ea typeface="Calibri" pitchFamily="34" charset="-122"/>
                <a:cs typeface="Calibri" pitchFamily="34" charset="-120"/>
              </a:rPr>
              <a:t>→ Already on ASP.NET Core Identity? Swap AddEfCoreStore for AddIdentityAdapter&lt;IdentityUser&gt;().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6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LANDSCAPE</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Why TapInAuth, not the alternatives.</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fido2-net-lib is a great protocol library — but it isn't a product. Identity is a great password story — but its passkey story is a template. Bitwarden's is hosted SaaS.</a:t>
            </a:r>
            <a:endParaRPr lang="en-US" sz="1500" dirty="0"/>
          </a:p>
        </p:txBody>
      </p:sp>
      <p:sp>
        <p:nvSpPr>
          <p:cNvPr id="12" name="Shape 10"/>
          <p:cNvSpPr/>
          <p:nvPr/>
        </p:nvSpPr>
        <p:spPr>
          <a:xfrm>
            <a:off x="3840480" y="2743200"/>
            <a:ext cx="1965960" cy="3072384"/>
          </a:xfrm>
          <a:prstGeom prst="rect">
            <a:avLst/>
          </a:prstGeom>
          <a:solidFill>
            <a:srgbClr val="13284A"/>
          </a:solidFill>
          <a:ln w="12700">
            <a:solidFill>
              <a:srgbClr val="22D3EE"/>
            </a:solidFill>
            <a:prstDash val="solid"/>
          </a:ln>
        </p:spPr>
      </p:sp>
      <p:sp>
        <p:nvSpPr>
          <p:cNvPr id="13" name="Shape 11"/>
          <p:cNvSpPr/>
          <p:nvPr/>
        </p:nvSpPr>
        <p:spPr>
          <a:xfrm>
            <a:off x="457200" y="2743200"/>
            <a:ext cx="3383280" cy="384048"/>
          </a:xfrm>
          <a:prstGeom prst="rect">
            <a:avLst/>
          </a:prstGeom>
          <a:solidFill>
            <a:srgbClr val="0F1730"/>
          </a:solidFill>
          <a:ln w="6350">
            <a:solidFill>
              <a:srgbClr val="1F2A48"/>
            </a:solidFill>
            <a:prstDash val="solid"/>
          </a:ln>
        </p:spPr>
      </p:sp>
      <p:sp>
        <p:nvSpPr>
          <p:cNvPr id="14" name="Text 12"/>
          <p:cNvSpPr/>
          <p:nvPr/>
        </p:nvSpPr>
        <p:spPr>
          <a:xfrm>
            <a:off x="621792" y="2743200"/>
            <a:ext cx="3054096" cy="384048"/>
          </a:xfrm>
          <a:prstGeom prst="rect">
            <a:avLst/>
          </a:prstGeom>
          <a:noFill/>
          <a:ln/>
        </p:spPr>
        <p:txBody>
          <a:bodyPr wrap="square" rtlCol="0" anchor="ctr"/>
          <a:lstStyle/>
          <a:p>
            <a:pPr algn="l" indent="0" marL="0">
              <a:buNone/>
            </a:pPr>
            <a:endParaRPr lang="en-US" sz="1200" dirty="0"/>
          </a:p>
        </p:txBody>
      </p:sp>
      <p:sp>
        <p:nvSpPr>
          <p:cNvPr id="15" name="Text 13"/>
          <p:cNvSpPr/>
          <p:nvPr/>
        </p:nvSpPr>
        <p:spPr>
          <a:xfrm>
            <a:off x="4005072" y="2743200"/>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TapInAuth</a:t>
            </a:r>
            <a:endParaRPr lang="en-US" sz="1200" dirty="0"/>
          </a:p>
        </p:txBody>
      </p:sp>
      <p:sp>
        <p:nvSpPr>
          <p:cNvPr id="16" name="Shape 14"/>
          <p:cNvSpPr/>
          <p:nvPr/>
        </p:nvSpPr>
        <p:spPr>
          <a:xfrm>
            <a:off x="5806440" y="2743200"/>
            <a:ext cx="1965960" cy="384048"/>
          </a:xfrm>
          <a:prstGeom prst="rect">
            <a:avLst/>
          </a:prstGeom>
          <a:solidFill>
            <a:srgbClr val="0F1730"/>
          </a:solidFill>
          <a:ln w="6350">
            <a:solidFill>
              <a:srgbClr val="1F2A48"/>
            </a:solidFill>
            <a:prstDash val="solid"/>
          </a:ln>
        </p:spPr>
      </p:sp>
      <p:sp>
        <p:nvSpPr>
          <p:cNvPr id="17" name="Text 15"/>
          <p:cNvSpPr/>
          <p:nvPr/>
        </p:nvSpPr>
        <p:spPr>
          <a:xfrm>
            <a:off x="5971032" y="2743200"/>
            <a:ext cx="1636776" cy="384048"/>
          </a:xfrm>
          <a:prstGeom prst="rect">
            <a:avLst/>
          </a:prstGeom>
          <a:noFill/>
          <a:ln/>
        </p:spPr>
        <p:txBody>
          <a:bodyPr wrap="square" rtlCol="0" anchor="ctr"/>
          <a:lstStyle/>
          <a:p>
            <a:pPr algn="ctr" indent="0" marL="0">
              <a:buNone/>
            </a:pPr>
            <a:r>
              <a:rPr lang="en-US" sz="1200" b="1" dirty="0">
                <a:solidFill>
                  <a:srgbClr val="F5F7FA"/>
                </a:solidFill>
                <a:latin typeface="Calibri" pitchFamily="34" charset="0"/>
                <a:ea typeface="Calibri" pitchFamily="34" charset="-122"/>
                <a:cs typeface="Calibri" pitchFamily="34" charset="-120"/>
              </a:rPr>
              <a:t>fido2-net-lib</a:t>
            </a:r>
            <a:endParaRPr lang="en-US" sz="1200" dirty="0"/>
          </a:p>
        </p:txBody>
      </p:sp>
      <p:sp>
        <p:nvSpPr>
          <p:cNvPr id="18" name="Shape 16"/>
          <p:cNvSpPr/>
          <p:nvPr/>
        </p:nvSpPr>
        <p:spPr>
          <a:xfrm>
            <a:off x="7772400" y="2743200"/>
            <a:ext cx="1965960" cy="384048"/>
          </a:xfrm>
          <a:prstGeom prst="rect">
            <a:avLst/>
          </a:prstGeom>
          <a:solidFill>
            <a:srgbClr val="0F1730"/>
          </a:solidFill>
          <a:ln w="6350">
            <a:solidFill>
              <a:srgbClr val="1F2A48"/>
            </a:solidFill>
            <a:prstDash val="solid"/>
          </a:ln>
        </p:spPr>
      </p:sp>
      <p:sp>
        <p:nvSpPr>
          <p:cNvPr id="19" name="Text 17"/>
          <p:cNvSpPr/>
          <p:nvPr/>
        </p:nvSpPr>
        <p:spPr>
          <a:xfrm>
            <a:off x="7936992" y="2743200"/>
            <a:ext cx="1636776" cy="384048"/>
          </a:xfrm>
          <a:prstGeom prst="rect">
            <a:avLst/>
          </a:prstGeom>
          <a:noFill/>
          <a:ln/>
        </p:spPr>
        <p:txBody>
          <a:bodyPr wrap="square" rtlCol="0" anchor="ctr"/>
          <a:lstStyle/>
          <a:p>
            <a:pPr algn="ctr" indent="0" marL="0">
              <a:buNone/>
            </a:pPr>
            <a:r>
              <a:rPr lang="en-US" sz="1200" b="1" dirty="0">
                <a:solidFill>
                  <a:srgbClr val="F5F7FA"/>
                </a:solidFill>
                <a:latin typeface="Calibri" pitchFamily="34" charset="0"/>
                <a:ea typeface="Calibri" pitchFamily="34" charset="-122"/>
                <a:cs typeface="Calibri" pitchFamily="34" charset="-120"/>
              </a:rPr>
              <a:t>Identity</a:t>
            </a:r>
            <a:endParaRPr lang="en-US" sz="1200" dirty="0"/>
          </a:p>
        </p:txBody>
      </p:sp>
      <p:sp>
        <p:nvSpPr>
          <p:cNvPr id="20" name="Shape 18"/>
          <p:cNvSpPr/>
          <p:nvPr/>
        </p:nvSpPr>
        <p:spPr>
          <a:xfrm>
            <a:off x="9738360" y="2743200"/>
            <a:ext cx="1965960" cy="384048"/>
          </a:xfrm>
          <a:prstGeom prst="rect">
            <a:avLst/>
          </a:prstGeom>
          <a:solidFill>
            <a:srgbClr val="0F1730"/>
          </a:solidFill>
          <a:ln w="6350">
            <a:solidFill>
              <a:srgbClr val="1F2A48"/>
            </a:solidFill>
            <a:prstDash val="solid"/>
          </a:ln>
        </p:spPr>
      </p:sp>
      <p:sp>
        <p:nvSpPr>
          <p:cNvPr id="21" name="Text 19"/>
          <p:cNvSpPr/>
          <p:nvPr/>
        </p:nvSpPr>
        <p:spPr>
          <a:xfrm>
            <a:off x="9902952" y="2743200"/>
            <a:ext cx="1636776" cy="384048"/>
          </a:xfrm>
          <a:prstGeom prst="rect">
            <a:avLst/>
          </a:prstGeom>
          <a:noFill/>
          <a:ln/>
        </p:spPr>
        <p:txBody>
          <a:bodyPr wrap="square" rtlCol="0" anchor="ctr"/>
          <a:lstStyle/>
          <a:p>
            <a:pPr algn="ctr" indent="0" marL="0">
              <a:buNone/>
            </a:pPr>
            <a:r>
              <a:rPr lang="en-US" sz="1200" b="1" dirty="0">
                <a:solidFill>
                  <a:srgbClr val="F5F7FA"/>
                </a:solidFill>
                <a:latin typeface="Calibri" pitchFamily="34" charset="0"/>
                <a:ea typeface="Calibri" pitchFamily="34" charset="-122"/>
                <a:cs typeface="Calibri" pitchFamily="34" charset="-120"/>
              </a:rPr>
              <a:t>Passwordless.dev</a:t>
            </a:r>
            <a:endParaRPr lang="en-US" sz="1200" dirty="0"/>
          </a:p>
        </p:txBody>
      </p:sp>
      <p:sp>
        <p:nvSpPr>
          <p:cNvPr id="22" name="Shape 20"/>
          <p:cNvSpPr/>
          <p:nvPr/>
        </p:nvSpPr>
        <p:spPr>
          <a:xfrm>
            <a:off x="457200" y="3127248"/>
            <a:ext cx="3383280" cy="384048"/>
          </a:xfrm>
          <a:prstGeom prst="rect">
            <a:avLst/>
          </a:prstGeom>
          <a:solidFill>
            <a:srgbClr val="0B1224"/>
          </a:solidFill>
          <a:ln w="6350">
            <a:solidFill>
              <a:srgbClr val="1F2A48"/>
            </a:solidFill>
            <a:prstDash val="solid"/>
          </a:ln>
        </p:spPr>
      </p:sp>
      <p:sp>
        <p:nvSpPr>
          <p:cNvPr id="23" name="Text 21"/>
          <p:cNvSpPr/>
          <p:nvPr/>
        </p:nvSpPr>
        <p:spPr>
          <a:xfrm>
            <a:off x="621792" y="3127248"/>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Passkeys</a:t>
            </a:r>
            <a:endParaRPr lang="en-US" sz="1200" dirty="0"/>
          </a:p>
        </p:txBody>
      </p:sp>
      <p:sp>
        <p:nvSpPr>
          <p:cNvPr id="24" name="Text 22"/>
          <p:cNvSpPr/>
          <p:nvPr/>
        </p:nvSpPr>
        <p:spPr>
          <a:xfrm>
            <a:off x="4005072" y="3127248"/>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5806440" y="3127248"/>
            <a:ext cx="1965960" cy="384048"/>
          </a:xfrm>
          <a:prstGeom prst="rect">
            <a:avLst/>
          </a:prstGeom>
          <a:solidFill>
            <a:srgbClr val="0B1224"/>
          </a:solidFill>
          <a:ln w="6350">
            <a:solidFill>
              <a:srgbClr val="1F2A48"/>
            </a:solidFill>
            <a:prstDash val="solid"/>
          </a:ln>
        </p:spPr>
      </p:sp>
      <p:sp>
        <p:nvSpPr>
          <p:cNvPr id="26" name="Text 24"/>
          <p:cNvSpPr/>
          <p:nvPr/>
        </p:nvSpPr>
        <p:spPr>
          <a:xfrm>
            <a:off x="5971032" y="3127248"/>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 (protocol)</a:t>
            </a:r>
            <a:endParaRPr lang="en-US" sz="1200" dirty="0"/>
          </a:p>
        </p:txBody>
      </p:sp>
      <p:sp>
        <p:nvSpPr>
          <p:cNvPr id="27" name="Shape 25"/>
          <p:cNvSpPr/>
          <p:nvPr/>
        </p:nvSpPr>
        <p:spPr>
          <a:xfrm>
            <a:off x="7772400" y="3127248"/>
            <a:ext cx="1965960" cy="384048"/>
          </a:xfrm>
          <a:prstGeom prst="rect">
            <a:avLst/>
          </a:prstGeom>
          <a:solidFill>
            <a:srgbClr val="0B1224"/>
          </a:solidFill>
          <a:ln w="6350">
            <a:solidFill>
              <a:srgbClr val="1F2A48"/>
            </a:solidFill>
            <a:prstDash val="solid"/>
          </a:ln>
        </p:spPr>
      </p:sp>
      <p:sp>
        <p:nvSpPr>
          <p:cNvPr id="28" name="Text 26"/>
          <p:cNvSpPr/>
          <p:nvPr/>
        </p:nvSpPr>
        <p:spPr>
          <a:xfrm>
            <a:off x="7936992" y="3127248"/>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Blazor tmpl</a:t>
            </a:r>
            <a:endParaRPr lang="en-US" sz="1200" dirty="0"/>
          </a:p>
        </p:txBody>
      </p:sp>
      <p:sp>
        <p:nvSpPr>
          <p:cNvPr id="29" name="Shape 27"/>
          <p:cNvSpPr/>
          <p:nvPr/>
        </p:nvSpPr>
        <p:spPr>
          <a:xfrm>
            <a:off x="9738360" y="3127248"/>
            <a:ext cx="1965960" cy="384048"/>
          </a:xfrm>
          <a:prstGeom prst="rect">
            <a:avLst/>
          </a:prstGeom>
          <a:solidFill>
            <a:srgbClr val="0B1224"/>
          </a:solidFill>
          <a:ln w="6350">
            <a:solidFill>
              <a:srgbClr val="1F2A48"/>
            </a:solidFill>
            <a:prstDash val="solid"/>
          </a:ln>
        </p:spPr>
      </p:sp>
      <p:sp>
        <p:nvSpPr>
          <p:cNvPr id="30" name="Text 28"/>
          <p:cNvSpPr/>
          <p:nvPr/>
        </p:nvSpPr>
        <p:spPr>
          <a:xfrm>
            <a:off x="9902952" y="3127248"/>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 (SaaS)</a:t>
            </a:r>
            <a:endParaRPr lang="en-US" sz="1200" dirty="0"/>
          </a:p>
        </p:txBody>
      </p:sp>
      <p:sp>
        <p:nvSpPr>
          <p:cNvPr id="31" name="Shape 29"/>
          <p:cNvSpPr/>
          <p:nvPr/>
        </p:nvSpPr>
        <p:spPr>
          <a:xfrm>
            <a:off x="457200" y="3511296"/>
            <a:ext cx="3383280" cy="384048"/>
          </a:xfrm>
          <a:prstGeom prst="rect">
            <a:avLst/>
          </a:prstGeom>
          <a:solidFill>
            <a:srgbClr val="121A30"/>
          </a:solidFill>
          <a:ln w="6350">
            <a:solidFill>
              <a:srgbClr val="1F2A48"/>
            </a:solidFill>
            <a:prstDash val="solid"/>
          </a:ln>
        </p:spPr>
      </p:sp>
      <p:sp>
        <p:nvSpPr>
          <p:cNvPr id="32" name="Text 30"/>
          <p:cNvSpPr/>
          <p:nvPr/>
        </p:nvSpPr>
        <p:spPr>
          <a:xfrm>
            <a:off x="621792" y="3511296"/>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Magic link</a:t>
            </a:r>
            <a:endParaRPr lang="en-US" sz="1200" dirty="0"/>
          </a:p>
        </p:txBody>
      </p:sp>
      <p:sp>
        <p:nvSpPr>
          <p:cNvPr id="33" name="Text 31"/>
          <p:cNvSpPr/>
          <p:nvPr/>
        </p:nvSpPr>
        <p:spPr>
          <a:xfrm>
            <a:off x="4005072" y="3511296"/>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34" name="Shape 32"/>
          <p:cNvSpPr/>
          <p:nvPr/>
        </p:nvSpPr>
        <p:spPr>
          <a:xfrm>
            <a:off x="5806440" y="3511296"/>
            <a:ext cx="1965960" cy="384048"/>
          </a:xfrm>
          <a:prstGeom prst="rect">
            <a:avLst/>
          </a:prstGeom>
          <a:solidFill>
            <a:srgbClr val="121A30"/>
          </a:solidFill>
          <a:ln w="6350">
            <a:solidFill>
              <a:srgbClr val="1F2A48"/>
            </a:solidFill>
            <a:prstDash val="solid"/>
          </a:ln>
        </p:spPr>
      </p:sp>
      <p:sp>
        <p:nvSpPr>
          <p:cNvPr id="35" name="Text 33"/>
          <p:cNvSpPr/>
          <p:nvPr/>
        </p:nvSpPr>
        <p:spPr>
          <a:xfrm>
            <a:off x="5971032" y="3511296"/>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36" name="Shape 34"/>
          <p:cNvSpPr/>
          <p:nvPr/>
        </p:nvSpPr>
        <p:spPr>
          <a:xfrm>
            <a:off x="7772400" y="3511296"/>
            <a:ext cx="1965960" cy="384048"/>
          </a:xfrm>
          <a:prstGeom prst="rect">
            <a:avLst/>
          </a:prstGeom>
          <a:solidFill>
            <a:srgbClr val="121A30"/>
          </a:solidFill>
          <a:ln w="6350">
            <a:solidFill>
              <a:srgbClr val="1F2A48"/>
            </a:solidFill>
            <a:prstDash val="solid"/>
          </a:ln>
        </p:spPr>
      </p:sp>
      <p:sp>
        <p:nvSpPr>
          <p:cNvPr id="37" name="Text 35"/>
          <p:cNvSpPr/>
          <p:nvPr/>
        </p:nvSpPr>
        <p:spPr>
          <a:xfrm>
            <a:off x="7936992" y="3511296"/>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38" name="Shape 36"/>
          <p:cNvSpPr/>
          <p:nvPr/>
        </p:nvSpPr>
        <p:spPr>
          <a:xfrm>
            <a:off x="9738360" y="3511296"/>
            <a:ext cx="1965960" cy="384048"/>
          </a:xfrm>
          <a:prstGeom prst="rect">
            <a:avLst/>
          </a:prstGeom>
          <a:solidFill>
            <a:srgbClr val="121A30"/>
          </a:solidFill>
          <a:ln w="6350">
            <a:solidFill>
              <a:srgbClr val="1F2A48"/>
            </a:solidFill>
            <a:prstDash val="solid"/>
          </a:ln>
        </p:spPr>
      </p:sp>
      <p:sp>
        <p:nvSpPr>
          <p:cNvPr id="39" name="Text 37"/>
          <p:cNvSpPr/>
          <p:nvPr/>
        </p:nvSpPr>
        <p:spPr>
          <a:xfrm>
            <a:off x="9902952" y="3511296"/>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457200" y="3895344"/>
            <a:ext cx="3383280" cy="384048"/>
          </a:xfrm>
          <a:prstGeom prst="rect">
            <a:avLst/>
          </a:prstGeom>
          <a:solidFill>
            <a:srgbClr val="0B1224"/>
          </a:solidFill>
          <a:ln w="6350">
            <a:solidFill>
              <a:srgbClr val="1F2A48"/>
            </a:solidFill>
            <a:prstDash val="solid"/>
          </a:ln>
        </p:spPr>
      </p:sp>
      <p:sp>
        <p:nvSpPr>
          <p:cNvPr id="41" name="Text 39"/>
          <p:cNvSpPr/>
          <p:nvPr/>
        </p:nvSpPr>
        <p:spPr>
          <a:xfrm>
            <a:off x="621792" y="3895344"/>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Email / SMS OTP</a:t>
            </a:r>
            <a:endParaRPr lang="en-US" sz="1200" dirty="0"/>
          </a:p>
        </p:txBody>
      </p:sp>
      <p:sp>
        <p:nvSpPr>
          <p:cNvPr id="42" name="Text 40"/>
          <p:cNvSpPr/>
          <p:nvPr/>
        </p:nvSpPr>
        <p:spPr>
          <a:xfrm>
            <a:off x="4005072" y="3895344"/>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43" name="Shape 41"/>
          <p:cNvSpPr/>
          <p:nvPr/>
        </p:nvSpPr>
        <p:spPr>
          <a:xfrm>
            <a:off x="5806440" y="3895344"/>
            <a:ext cx="1965960" cy="384048"/>
          </a:xfrm>
          <a:prstGeom prst="rect">
            <a:avLst/>
          </a:prstGeom>
          <a:solidFill>
            <a:srgbClr val="0B1224"/>
          </a:solidFill>
          <a:ln w="6350">
            <a:solidFill>
              <a:srgbClr val="1F2A48"/>
            </a:solidFill>
            <a:prstDash val="solid"/>
          </a:ln>
        </p:spPr>
      </p:sp>
      <p:sp>
        <p:nvSpPr>
          <p:cNvPr id="44" name="Text 42"/>
          <p:cNvSpPr/>
          <p:nvPr/>
        </p:nvSpPr>
        <p:spPr>
          <a:xfrm>
            <a:off x="5971032" y="3895344"/>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45" name="Shape 43"/>
          <p:cNvSpPr/>
          <p:nvPr/>
        </p:nvSpPr>
        <p:spPr>
          <a:xfrm>
            <a:off x="7772400" y="3895344"/>
            <a:ext cx="1965960" cy="384048"/>
          </a:xfrm>
          <a:prstGeom prst="rect">
            <a:avLst/>
          </a:prstGeom>
          <a:solidFill>
            <a:srgbClr val="0B1224"/>
          </a:solidFill>
          <a:ln w="6350">
            <a:solidFill>
              <a:srgbClr val="1F2A48"/>
            </a:solidFill>
            <a:prstDash val="solid"/>
          </a:ln>
        </p:spPr>
      </p:sp>
      <p:sp>
        <p:nvSpPr>
          <p:cNvPr id="46" name="Text 44"/>
          <p:cNvSpPr/>
          <p:nvPr/>
        </p:nvSpPr>
        <p:spPr>
          <a:xfrm>
            <a:off x="7936992" y="3895344"/>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47" name="Shape 45"/>
          <p:cNvSpPr/>
          <p:nvPr/>
        </p:nvSpPr>
        <p:spPr>
          <a:xfrm>
            <a:off x="9738360" y="3895344"/>
            <a:ext cx="1965960" cy="384048"/>
          </a:xfrm>
          <a:prstGeom prst="rect">
            <a:avLst/>
          </a:prstGeom>
          <a:solidFill>
            <a:srgbClr val="0B1224"/>
          </a:solidFill>
          <a:ln w="6350">
            <a:solidFill>
              <a:srgbClr val="1F2A48"/>
            </a:solidFill>
            <a:prstDash val="solid"/>
          </a:ln>
        </p:spPr>
      </p:sp>
      <p:sp>
        <p:nvSpPr>
          <p:cNvPr id="48" name="Text 46"/>
          <p:cNvSpPr/>
          <p:nvPr/>
        </p:nvSpPr>
        <p:spPr>
          <a:xfrm>
            <a:off x="9902952" y="3895344"/>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49" name="Shape 47"/>
          <p:cNvSpPr/>
          <p:nvPr/>
        </p:nvSpPr>
        <p:spPr>
          <a:xfrm>
            <a:off x="457200" y="4279392"/>
            <a:ext cx="3383280" cy="384048"/>
          </a:xfrm>
          <a:prstGeom prst="rect">
            <a:avLst/>
          </a:prstGeom>
          <a:solidFill>
            <a:srgbClr val="121A30"/>
          </a:solidFill>
          <a:ln w="6350">
            <a:solidFill>
              <a:srgbClr val="1F2A48"/>
            </a:solidFill>
            <a:prstDash val="solid"/>
          </a:ln>
        </p:spPr>
      </p:sp>
      <p:sp>
        <p:nvSpPr>
          <p:cNvPr id="50" name="Text 48"/>
          <p:cNvSpPr/>
          <p:nvPr/>
        </p:nvSpPr>
        <p:spPr>
          <a:xfrm>
            <a:off x="621792" y="4279392"/>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Recovery codes</a:t>
            </a:r>
            <a:endParaRPr lang="en-US" sz="1200" dirty="0"/>
          </a:p>
        </p:txBody>
      </p:sp>
      <p:sp>
        <p:nvSpPr>
          <p:cNvPr id="51" name="Text 49"/>
          <p:cNvSpPr/>
          <p:nvPr/>
        </p:nvSpPr>
        <p:spPr>
          <a:xfrm>
            <a:off x="4005072" y="4279392"/>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52" name="Shape 50"/>
          <p:cNvSpPr/>
          <p:nvPr/>
        </p:nvSpPr>
        <p:spPr>
          <a:xfrm>
            <a:off x="5806440" y="4279392"/>
            <a:ext cx="1965960" cy="384048"/>
          </a:xfrm>
          <a:prstGeom prst="rect">
            <a:avLst/>
          </a:prstGeom>
          <a:solidFill>
            <a:srgbClr val="121A30"/>
          </a:solidFill>
          <a:ln w="6350">
            <a:solidFill>
              <a:srgbClr val="1F2A48"/>
            </a:solidFill>
            <a:prstDash val="solid"/>
          </a:ln>
        </p:spPr>
      </p:sp>
      <p:sp>
        <p:nvSpPr>
          <p:cNvPr id="53" name="Text 51"/>
          <p:cNvSpPr/>
          <p:nvPr/>
        </p:nvSpPr>
        <p:spPr>
          <a:xfrm>
            <a:off x="5971032" y="4279392"/>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54" name="Shape 52"/>
          <p:cNvSpPr/>
          <p:nvPr/>
        </p:nvSpPr>
        <p:spPr>
          <a:xfrm>
            <a:off x="7772400" y="4279392"/>
            <a:ext cx="1965960" cy="384048"/>
          </a:xfrm>
          <a:prstGeom prst="rect">
            <a:avLst/>
          </a:prstGeom>
          <a:solidFill>
            <a:srgbClr val="121A30"/>
          </a:solidFill>
          <a:ln w="6350">
            <a:solidFill>
              <a:srgbClr val="1F2A48"/>
            </a:solidFill>
            <a:prstDash val="solid"/>
          </a:ln>
        </p:spPr>
      </p:sp>
      <p:sp>
        <p:nvSpPr>
          <p:cNvPr id="55" name="Text 53"/>
          <p:cNvSpPr/>
          <p:nvPr/>
        </p:nvSpPr>
        <p:spPr>
          <a:xfrm>
            <a:off x="7936992" y="4279392"/>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56" name="Shape 54"/>
          <p:cNvSpPr/>
          <p:nvPr/>
        </p:nvSpPr>
        <p:spPr>
          <a:xfrm>
            <a:off x="9738360" y="4279392"/>
            <a:ext cx="1965960" cy="384048"/>
          </a:xfrm>
          <a:prstGeom prst="rect">
            <a:avLst/>
          </a:prstGeom>
          <a:solidFill>
            <a:srgbClr val="121A30"/>
          </a:solidFill>
          <a:ln w="6350">
            <a:solidFill>
              <a:srgbClr val="1F2A48"/>
            </a:solidFill>
            <a:prstDash val="solid"/>
          </a:ln>
        </p:spPr>
      </p:sp>
      <p:sp>
        <p:nvSpPr>
          <p:cNvPr id="57" name="Text 55"/>
          <p:cNvSpPr/>
          <p:nvPr/>
        </p:nvSpPr>
        <p:spPr>
          <a:xfrm>
            <a:off x="9902952" y="4279392"/>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58" name="Shape 56"/>
          <p:cNvSpPr/>
          <p:nvPr/>
        </p:nvSpPr>
        <p:spPr>
          <a:xfrm>
            <a:off x="457200" y="4663440"/>
            <a:ext cx="3383280" cy="384048"/>
          </a:xfrm>
          <a:prstGeom prst="rect">
            <a:avLst/>
          </a:prstGeom>
          <a:solidFill>
            <a:srgbClr val="0B1224"/>
          </a:solidFill>
          <a:ln w="6350">
            <a:solidFill>
              <a:srgbClr val="1F2A48"/>
            </a:solidFill>
            <a:prstDash val="solid"/>
          </a:ln>
        </p:spPr>
      </p:sp>
      <p:sp>
        <p:nvSpPr>
          <p:cNvPr id="59" name="Text 57"/>
          <p:cNvSpPr/>
          <p:nvPr/>
        </p:nvSpPr>
        <p:spPr>
          <a:xfrm>
            <a:off x="621792" y="4663440"/>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Built-in themable UI</a:t>
            </a:r>
            <a:endParaRPr lang="en-US" sz="1200" dirty="0"/>
          </a:p>
        </p:txBody>
      </p:sp>
      <p:sp>
        <p:nvSpPr>
          <p:cNvPr id="60" name="Text 58"/>
          <p:cNvSpPr/>
          <p:nvPr/>
        </p:nvSpPr>
        <p:spPr>
          <a:xfrm>
            <a:off x="4005072" y="4663440"/>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61" name="Shape 59"/>
          <p:cNvSpPr/>
          <p:nvPr/>
        </p:nvSpPr>
        <p:spPr>
          <a:xfrm>
            <a:off x="5806440" y="4663440"/>
            <a:ext cx="1965960" cy="384048"/>
          </a:xfrm>
          <a:prstGeom prst="rect">
            <a:avLst/>
          </a:prstGeom>
          <a:solidFill>
            <a:srgbClr val="0B1224"/>
          </a:solidFill>
          <a:ln w="6350">
            <a:solidFill>
              <a:srgbClr val="1F2A48"/>
            </a:solidFill>
            <a:prstDash val="solid"/>
          </a:ln>
        </p:spPr>
      </p:sp>
      <p:sp>
        <p:nvSpPr>
          <p:cNvPr id="62" name="Text 60"/>
          <p:cNvSpPr/>
          <p:nvPr/>
        </p:nvSpPr>
        <p:spPr>
          <a:xfrm>
            <a:off x="5971032" y="4663440"/>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63" name="Shape 61"/>
          <p:cNvSpPr/>
          <p:nvPr/>
        </p:nvSpPr>
        <p:spPr>
          <a:xfrm>
            <a:off x="7772400" y="4663440"/>
            <a:ext cx="1965960" cy="384048"/>
          </a:xfrm>
          <a:prstGeom prst="rect">
            <a:avLst/>
          </a:prstGeom>
          <a:solidFill>
            <a:srgbClr val="0B1224"/>
          </a:solidFill>
          <a:ln w="6350">
            <a:solidFill>
              <a:srgbClr val="1F2A48"/>
            </a:solidFill>
            <a:prstDash val="solid"/>
          </a:ln>
        </p:spPr>
      </p:sp>
      <p:sp>
        <p:nvSpPr>
          <p:cNvPr id="64" name="Text 62"/>
          <p:cNvSpPr/>
          <p:nvPr/>
        </p:nvSpPr>
        <p:spPr>
          <a:xfrm>
            <a:off x="7936992" y="4663440"/>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template</a:t>
            </a:r>
            <a:endParaRPr lang="en-US" sz="1200" dirty="0"/>
          </a:p>
        </p:txBody>
      </p:sp>
      <p:sp>
        <p:nvSpPr>
          <p:cNvPr id="65" name="Shape 63"/>
          <p:cNvSpPr/>
          <p:nvPr/>
        </p:nvSpPr>
        <p:spPr>
          <a:xfrm>
            <a:off x="9738360" y="4663440"/>
            <a:ext cx="1965960" cy="384048"/>
          </a:xfrm>
          <a:prstGeom prst="rect">
            <a:avLst/>
          </a:prstGeom>
          <a:solidFill>
            <a:srgbClr val="0B1224"/>
          </a:solidFill>
          <a:ln w="6350">
            <a:solidFill>
              <a:srgbClr val="1F2A48"/>
            </a:solidFill>
            <a:prstDash val="solid"/>
          </a:ln>
        </p:spPr>
      </p:sp>
      <p:sp>
        <p:nvSpPr>
          <p:cNvPr id="66" name="Text 64"/>
          <p:cNvSpPr/>
          <p:nvPr/>
        </p:nvSpPr>
        <p:spPr>
          <a:xfrm>
            <a:off x="9902952" y="4663440"/>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hosted</a:t>
            </a:r>
            <a:endParaRPr lang="en-US" sz="1200" dirty="0"/>
          </a:p>
        </p:txBody>
      </p:sp>
      <p:sp>
        <p:nvSpPr>
          <p:cNvPr id="67" name="Shape 65"/>
          <p:cNvSpPr/>
          <p:nvPr/>
        </p:nvSpPr>
        <p:spPr>
          <a:xfrm>
            <a:off x="457200" y="5047488"/>
            <a:ext cx="3383280" cy="384048"/>
          </a:xfrm>
          <a:prstGeom prst="rect">
            <a:avLst/>
          </a:prstGeom>
          <a:solidFill>
            <a:srgbClr val="121A30"/>
          </a:solidFill>
          <a:ln w="6350">
            <a:solidFill>
              <a:srgbClr val="1F2A48"/>
            </a:solidFill>
            <a:prstDash val="solid"/>
          </a:ln>
        </p:spPr>
      </p:sp>
      <p:sp>
        <p:nvSpPr>
          <p:cNvPr id="68" name="Text 66"/>
          <p:cNvSpPr/>
          <p:nvPr/>
        </p:nvSpPr>
        <p:spPr>
          <a:xfrm>
            <a:off x="621792" y="5047488"/>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Multi-tenant from day one</a:t>
            </a:r>
            <a:endParaRPr lang="en-US" sz="1200" dirty="0"/>
          </a:p>
        </p:txBody>
      </p:sp>
      <p:sp>
        <p:nvSpPr>
          <p:cNvPr id="69" name="Text 67"/>
          <p:cNvSpPr/>
          <p:nvPr/>
        </p:nvSpPr>
        <p:spPr>
          <a:xfrm>
            <a:off x="4005072" y="5047488"/>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70" name="Shape 68"/>
          <p:cNvSpPr/>
          <p:nvPr/>
        </p:nvSpPr>
        <p:spPr>
          <a:xfrm>
            <a:off x="5806440" y="5047488"/>
            <a:ext cx="1965960" cy="384048"/>
          </a:xfrm>
          <a:prstGeom prst="rect">
            <a:avLst/>
          </a:prstGeom>
          <a:solidFill>
            <a:srgbClr val="121A30"/>
          </a:solidFill>
          <a:ln w="6350">
            <a:solidFill>
              <a:srgbClr val="1F2A48"/>
            </a:solidFill>
            <a:prstDash val="solid"/>
          </a:ln>
        </p:spPr>
      </p:sp>
      <p:sp>
        <p:nvSpPr>
          <p:cNvPr id="71" name="Text 69"/>
          <p:cNvSpPr/>
          <p:nvPr/>
        </p:nvSpPr>
        <p:spPr>
          <a:xfrm>
            <a:off x="5971032" y="5047488"/>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n/a</a:t>
            </a:r>
            <a:endParaRPr lang="en-US" sz="1200" dirty="0"/>
          </a:p>
        </p:txBody>
      </p:sp>
      <p:sp>
        <p:nvSpPr>
          <p:cNvPr id="72" name="Shape 70"/>
          <p:cNvSpPr/>
          <p:nvPr/>
        </p:nvSpPr>
        <p:spPr>
          <a:xfrm>
            <a:off x="7772400" y="5047488"/>
            <a:ext cx="1965960" cy="384048"/>
          </a:xfrm>
          <a:prstGeom prst="rect">
            <a:avLst/>
          </a:prstGeom>
          <a:solidFill>
            <a:srgbClr val="121A30"/>
          </a:solidFill>
          <a:ln w="6350">
            <a:solidFill>
              <a:srgbClr val="1F2A48"/>
            </a:solidFill>
            <a:prstDash val="solid"/>
          </a:ln>
        </p:spPr>
      </p:sp>
      <p:sp>
        <p:nvSpPr>
          <p:cNvPr id="73" name="Text 71"/>
          <p:cNvSpPr/>
          <p:nvPr/>
        </p:nvSpPr>
        <p:spPr>
          <a:xfrm>
            <a:off x="7936992" y="5047488"/>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74" name="Shape 72"/>
          <p:cNvSpPr/>
          <p:nvPr/>
        </p:nvSpPr>
        <p:spPr>
          <a:xfrm>
            <a:off x="9738360" y="5047488"/>
            <a:ext cx="1965960" cy="384048"/>
          </a:xfrm>
          <a:prstGeom prst="rect">
            <a:avLst/>
          </a:prstGeom>
          <a:solidFill>
            <a:srgbClr val="121A30"/>
          </a:solidFill>
          <a:ln w="6350">
            <a:solidFill>
              <a:srgbClr val="1F2A48"/>
            </a:solidFill>
            <a:prstDash val="solid"/>
          </a:ln>
        </p:spPr>
      </p:sp>
      <p:sp>
        <p:nvSpPr>
          <p:cNvPr id="75" name="Text 73"/>
          <p:cNvSpPr/>
          <p:nvPr/>
        </p:nvSpPr>
        <p:spPr>
          <a:xfrm>
            <a:off x="9902952" y="5047488"/>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76" name="Shape 74"/>
          <p:cNvSpPr/>
          <p:nvPr/>
        </p:nvSpPr>
        <p:spPr>
          <a:xfrm>
            <a:off x="457200" y="5431536"/>
            <a:ext cx="3383280" cy="384048"/>
          </a:xfrm>
          <a:prstGeom prst="rect">
            <a:avLst/>
          </a:prstGeom>
          <a:solidFill>
            <a:srgbClr val="0B1224"/>
          </a:solidFill>
          <a:ln w="6350">
            <a:solidFill>
              <a:srgbClr val="1F2A48"/>
            </a:solidFill>
            <a:prstDash val="solid"/>
          </a:ln>
        </p:spPr>
      </p:sp>
      <p:sp>
        <p:nvSpPr>
          <p:cNvPr id="77" name="Text 75"/>
          <p:cNvSpPr/>
          <p:nvPr/>
        </p:nvSpPr>
        <p:spPr>
          <a:xfrm>
            <a:off x="621792" y="5431536"/>
            <a:ext cx="3054096" cy="384048"/>
          </a:xfrm>
          <a:prstGeom prst="rect">
            <a:avLst/>
          </a:prstGeom>
          <a:noFill/>
          <a:ln/>
        </p:spPr>
        <p:txBody>
          <a:bodyPr wrap="square" rtlCol="0" anchor="ctr"/>
          <a:lstStyle/>
          <a:p>
            <a:pPr algn="l" indent="0" marL="0">
              <a:buNone/>
            </a:pPr>
            <a:r>
              <a:rPr lang="en-US" sz="1200" b="1" dirty="0">
                <a:solidFill>
                  <a:srgbClr val="D8DEE9"/>
                </a:solidFill>
                <a:latin typeface="Calibri" pitchFamily="34" charset="0"/>
                <a:ea typeface="Calibri" pitchFamily="34" charset="-122"/>
                <a:cs typeface="Calibri" pitchFamily="34" charset="-120"/>
              </a:rPr>
              <a:t>OSS, self-hosted</a:t>
            </a:r>
            <a:endParaRPr lang="en-US" sz="1200" dirty="0"/>
          </a:p>
        </p:txBody>
      </p:sp>
      <p:sp>
        <p:nvSpPr>
          <p:cNvPr id="78" name="Text 76"/>
          <p:cNvSpPr/>
          <p:nvPr/>
        </p:nvSpPr>
        <p:spPr>
          <a:xfrm>
            <a:off x="4005072" y="5431536"/>
            <a:ext cx="1636776" cy="384048"/>
          </a:xfrm>
          <a:prstGeom prst="rect">
            <a:avLst/>
          </a:prstGeom>
          <a:noFill/>
          <a:ln/>
        </p:spPr>
        <p:txBody>
          <a:bodyPr wrap="square"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t>
            </a:r>
            <a:endParaRPr lang="en-US" sz="1200" dirty="0"/>
          </a:p>
        </p:txBody>
      </p:sp>
      <p:sp>
        <p:nvSpPr>
          <p:cNvPr id="79" name="Shape 77"/>
          <p:cNvSpPr/>
          <p:nvPr/>
        </p:nvSpPr>
        <p:spPr>
          <a:xfrm>
            <a:off x="5806440" y="5431536"/>
            <a:ext cx="1965960" cy="384048"/>
          </a:xfrm>
          <a:prstGeom prst="rect">
            <a:avLst/>
          </a:prstGeom>
          <a:solidFill>
            <a:srgbClr val="0B1224"/>
          </a:solidFill>
          <a:ln w="6350">
            <a:solidFill>
              <a:srgbClr val="1F2A48"/>
            </a:solidFill>
            <a:prstDash val="solid"/>
          </a:ln>
        </p:spPr>
      </p:sp>
      <p:sp>
        <p:nvSpPr>
          <p:cNvPr id="80" name="Text 78"/>
          <p:cNvSpPr/>
          <p:nvPr/>
        </p:nvSpPr>
        <p:spPr>
          <a:xfrm>
            <a:off x="5971032" y="5431536"/>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81" name="Shape 79"/>
          <p:cNvSpPr/>
          <p:nvPr/>
        </p:nvSpPr>
        <p:spPr>
          <a:xfrm>
            <a:off x="7772400" y="5431536"/>
            <a:ext cx="1965960" cy="384048"/>
          </a:xfrm>
          <a:prstGeom prst="rect">
            <a:avLst/>
          </a:prstGeom>
          <a:solidFill>
            <a:srgbClr val="0B1224"/>
          </a:solidFill>
          <a:ln w="6350">
            <a:solidFill>
              <a:srgbClr val="1F2A48"/>
            </a:solidFill>
            <a:prstDash val="solid"/>
          </a:ln>
        </p:spPr>
      </p:sp>
      <p:sp>
        <p:nvSpPr>
          <p:cNvPr id="82" name="Text 80"/>
          <p:cNvSpPr/>
          <p:nvPr/>
        </p:nvSpPr>
        <p:spPr>
          <a:xfrm>
            <a:off x="7936992" y="5431536"/>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a:t>
            </a:r>
            <a:endParaRPr lang="en-US" sz="1200" dirty="0"/>
          </a:p>
        </p:txBody>
      </p:sp>
      <p:sp>
        <p:nvSpPr>
          <p:cNvPr id="83" name="Shape 81"/>
          <p:cNvSpPr/>
          <p:nvPr/>
        </p:nvSpPr>
        <p:spPr>
          <a:xfrm>
            <a:off x="9738360" y="5431536"/>
            <a:ext cx="1965960" cy="384048"/>
          </a:xfrm>
          <a:prstGeom prst="rect">
            <a:avLst/>
          </a:prstGeom>
          <a:solidFill>
            <a:srgbClr val="0B1224"/>
          </a:solidFill>
          <a:ln w="6350">
            <a:solidFill>
              <a:srgbClr val="1F2A48"/>
            </a:solidFill>
            <a:prstDash val="solid"/>
          </a:ln>
        </p:spPr>
      </p:sp>
      <p:sp>
        <p:nvSpPr>
          <p:cNvPr id="84" name="Text 82"/>
          <p:cNvSpPr/>
          <p:nvPr/>
        </p:nvSpPr>
        <p:spPr>
          <a:xfrm>
            <a:off x="9902952" y="5431536"/>
            <a:ext cx="1636776" cy="384048"/>
          </a:xfrm>
          <a:prstGeom prst="rect">
            <a:avLst/>
          </a:prstGeom>
          <a:noFill/>
          <a:ln/>
        </p:spPr>
        <p:txBody>
          <a:bodyPr wrap="square" rtlCol="0" anchor="ctr"/>
          <a:lstStyle/>
          <a:p>
            <a:pPr algn="ctr" indent="0" marL="0">
              <a:buNone/>
            </a:pPr>
            <a:r>
              <a:rPr lang="en-US" sz="1200" dirty="0">
                <a:solidFill>
                  <a:srgbClr val="D8DEE9"/>
                </a:solidFill>
                <a:latin typeface="Calibri" pitchFamily="34" charset="0"/>
                <a:ea typeface="Calibri" pitchFamily="34" charset="-122"/>
                <a:cs typeface="Calibri" pitchFamily="34" charset="-120"/>
              </a:rPr>
              <a:t>open-core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7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ARCHITECTURE</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Composable. Layered. Boring on purpose.</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Abstractions you can mock. A Core engine that's the same for every host. Adapters at the edges.</a:t>
            </a:r>
            <a:endParaRPr lang="en-US" sz="1500" dirty="0"/>
          </a:p>
        </p:txBody>
      </p:sp>
      <p:sp>
        <p:nvSpPr>
          <p:cNvPr id="12" name="Shape 10"/>
          <p:cNvSpPr/>
          <p:nvPr/>
        </p:nvSpPr>
        <p:spPr>
          <a:xfrm>
            <a:off x="457200" y="2743200"/>
            <a:ext cx="11247120" cy="777240"/>
          </a:xfrm>
          <a:prstGeom prst="rect">
            <a:avLst/>
          </a:prstGeom>
          <a:solidFill>
            <a:srgbClr val="0F1730"/>
          </a:solidFill>
          <a:ln w="12700">
            <a:solidFill>
              <a:srgbClr val="1F2A48"/>
            </a:solidFill>
            <a:prstDash val="solid"/>
          </a:ln>
        </p:spPr>
      </p:sp>
      <p:sp>
        <p:nvSpPr>
          <p:cNvPr id="13" name="Shape 11"/>
          <p:cNvSpPr/>
          <p:nvPr/>
        </p:nvSpPr>
        <p:spPr>
          <a:xfrm>
            <a:off x="457200" y="2743200"/>
            <a:ext cx="109728" cy="777240"/>
          </a:xfrm>
          <a:prstGeom prst="rect">
            <a:avLst/>
          </a:prstGeom>
          <a:solidFill>
            <a:srgbClr val="2563EB"/>
          </a:solidFill>
          <a:ln w="12700">
            <a:solidFill>
              <a:srgbClr val="2563EB"/>
            </a:solidFill>
            <a:prstDash val="solid"/>
          </a:ln>
        </p:spPr>
      </p:sp>
      <p:sp>
        <p:nvSpPr>
          <p:cNvPr id="14" name="Text 12"/>
          <p:cNvSpPr/>
          <p:nvPr/>
        </p:nvSpPr>
        <p:spPr>
          <a:xfrm>
            <a:off x="731520" y="2871216"/>
            <a:ext cx="2286000" cy="50292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Host App</a:t>
            </a:r>
            <a:endParaRPr lang="en-US" sz="1400" dirty="0"/>
          </a:p>
        </p:txBody>
      </p:sp>
      <p:sp>
        <p:nvSpPr>
          <p:cNvPr id="15" name="Shape 13"/>
          <p:cNvSpPr/>
          <p:nvPr/>
        </p:nvSpPr>
        <p:spPr>
          <a:xfrm>
            <a:off x="3017520" y="2834640"/>
            <a:ext cx="13716" cy="594360"/>
          </a:xfrm>
          <a:prstGeom prst="rect">
            <a:avLst/>
          </a:prstGeom>
          <a:solidFill>
            <a:srgbClr val="1F2A48"/>
          </a:solidFill>
          <a:ln w="12700">
            <a:solidFill>
              <a:srgbClr val="1F2A48"/>
            </a:solidFill>
            <a:prstDash val="solid"/>
          </a:ln>
        </p:spPr>
      </p:sp>
      <p:sp>
        <p:nvSpPr>
          <p:cNvPr id="16" name="Text 14"/>
          <p:cNvSpPr/>
          <p:nvPr/>
        </p:nvSpPr>
        <p:spPr>
          <a:xfrm>
            <a:off x="3154680" y="2871216"/>
            <a:ext cx="8412480" cy="594360"/>
          </a:xfrm>
          <a:prstGeom prst="rect">
            <a:avLst/>
          </a:prstGeom>
          <a:noFill/>
          <a:ln/>
        </p:spPr>
        <p:txBody>
          <a:bodyPr wrap="square" rtlCol="0" anchor="ctr"/>
          <a:lstStyle/>
          <a:p>
            <a:pPr indent="0" marL="0">
              <a:buNone/>
            </a:pPr>
            <a:r>
              <a:rPr lang="en-US" sz="1100" dirty="0">
                <a:solidFill>
                  <a:srgbClr val="D8DEE9"/>
                </a:solidFill>
                <a:latin typeface="Calibri" pitchFamily="34" charset="0"/>
                <a:ea typeface="Calibri" pitchFamily="34" charset="-122"/>
                <a:cs typeface="Calibri" pitchFamily="34" charset="-120"/>
              </a:rPr>
              <a:t>Mvc.Quickstart  ·  BlazorServer.Quickstart  ·  Identity.Sample  ·  SaaS.MultiTenant</a:t>
            </a:r>
            <a:endParaRPr lang="en-US" sz="1100" dirty="0"/>
          </a:p>
        </p:txBody>
      </p:sp>
      <p:sp>
        <p:nvSpPr>
          <p:cNvPr id="17" name="Shape 15"/>
          <p:cNvSpPr/>
          <p:nvPr/>
        </p:nvSpPr>
        <p:spPr>
          <a:xfrm>
            <a:off x="457200" y="3611880"/>
            <a:ext cx="11247120" cy="777240"/>
          </a:xfrm>
          <a:prstGeom prst="rect">
            <a:avLst/>
          </a:prstGeom>
          <a:solidFill>
            <a:srgbClr val="0F1730"/>
          </a:solidFill>
          <a:ln w="12700">
            <a:solidFill>
              <a:srgbClr val="1F2A48"/>
            </a:solidFill>
            <a:prstDash val="solid"/>
          </a:ln>
        </p:spPr>
      </p:sp>
      <p:sp>
        <p:nvSpPr>
          <p:cNvPr id="18" name="Shape 16"/>
          <p:cNvSpPr/>
          <p:nvPr/>
        </p:nvSpPr>
        <p:spPr>
          <a:xfrm>
            <a:off x="457200" y="3611880"/>
            <a:ext cx="109728" cy="777240"/>
          </a:xfrm>
          <a:prstGeom prst="rect">
            <a:avLst/>
          </a:prstGeom>
          <a:solidFill>
            <a:srgbClr val="22D3EE"/>
          </a:solidFill>
          <a:ln w="12700">
            <a:solidFill>
              <a:srgbClr val="22D3EE"/>
            </a:solidFill>
            <a:prstDash val="solid"/>
          </a:ln>
        </p:spPr>
      </p:sp>
      <p:sp>
        <p:nvSpPr>
          <p:cNvPr id="19" name="Text 17"/>
          <p:cNvSpPr/>
          <p:nvPr/>
        </p:nvSpPr>
        <p:spPr>
          <a:xfrm>
            <a:off x="731520" y="3739896"/>
            <a:ext cx="2286000" cy="50292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Surface</a:t>
            </a:r>
            <a:endParaRPr lang="en-US" sz="1400" dirty="0"/>
          </a:p>
        </p:txBody>
      </p:sp>
      <p:sp>
        <p:nvSpPr>
          <p:cNvPr id="20" name="Shape 18"/>
          <p:cNvSpPr/>
          <p:nvPr/>
        </p:nvSpPr>
        <p:spPr>
          <a:xfrm>
            <a:off x="3017520" y="3703320"/>
            <a:ext cx="13716" cy="594360"/>
          </a:xfrm>
          <a:prstGeom prst="rect">
            <a:avLst/>
          </a:prstGeom>
          <a:solidFill>
            <a:srgbClr val="1F2A48"/>
          </a:solidFill>
          <a:ln w="12700">
            <a:solidFill>
              <a:srgbClr val="1F2A48"/>
            </a:solidFill>
            <a:prstDash val="solid"/>
          </a:ln>
        </p:spPr>
      </p:sp>
      <p:sp>
        <p:nvSpPr>
          <p:cNvPr id="21" name="Text 19"/>
          <p:cNvSpPr/>
          <p:nvPr/>
        </p:nvSpPr>
        <p:spPr>
          <a:xfrm>
            <a:off x="3154680" y="3739896"/>
            <a:ext cx="8412480" cy="594360"/>
          </a:xfrm>
          <a:prstGeom prst="rect">
            <a:avLst/>
          </a:prstGeom>
          <a:noFill/>
          <a:ln/>
        </p:spPr>
        <p:txBody>
          <a:bodyPr wrap="square" rtlCol="0" anchor="ctr"/>
          <a:lstStyle/>
          <a:p>
            <a:pPr indent="0" marL="0">
              <a:buNone/>
            </a:pPr>
            <a:r>
              <a:rPr lang="en-US" sz="1100" dirty="0">
                <a:solidFill>
                  <a:srgbClr val="D8DEE9"/>
                </a:solidFill>
                <a:latin typeface="Calibri" pitchFamily="34" charset="0"/>
                <a:ea typeface="Calibri" pitchFamily="34" charset="-122"/>
                <a:cs typeface="Calibri" pitchFamily="34" charset="-120"/>
              </a:rPr>
              <a:t>TapInAuth.AspNetCore (endpoints + DI)  ·  TapInAuth.UI (Razor Pages)  ·  TapInAuth.UI.Blazor (Components)</a:t>
            </a:r>
            <a:endParaRPr lang="en-US" sz="1100" dirty="0"/>
          </a:p>
        </p:txBody>
      </p:sp>
      <p:sp>
        <p:nvSpPr>
          <p:cNvPr id="22" name="Shape 20"/>
          <p:cNvSpPr/>
          <p:nvPr/>
        </p:nvSpPr>
        <p:spPr>
          <a:xfrm>
            <a:off x="457200" y="4480560"/>
            <a:ext cx="11247120" cy="777240"/>
          </a:xfrm>
          <a:prstGeom prst="rect">
            <a:avLst/>
          </a:prstGeom>
          <a:solidFill>
            <a:srgbClr val="0F1730"/>
          </a:solidFill>
          <a:ln w="12700">
            <a:solidFill>
              <a:srgbClr val="1F2A48"/>
            </a:solidFill>
            <a:prstDash val="solid"/>
          </a:ln>
        </p:spPr>
      </p:sp>
      <p:sp>
        <p:nvSpPr>
          <p:cNvPr id="23" name="Shape 21"/>
          <p:cNvSpPr/>
          <p:nvPr/>
        </p:nvSpPr>
        <p:spPr>
          <a:xfrm>
            <a:off x="457200" y="4480560"/>
            <a:ext cx="109728" cy="777240"/>
          </a:xfrm>
          <a:prstGeom prst="rect">
            <a:avLst/>
          </a:prstGeom>
          <a:solidFill>
            <a:srgbClr val="10B981"/>
          </a:solidFill>
          <a:ln w="12700">
            <a:solidFill>
              <a:srgbClr val="10B981"/>
            </a:solidFill>
            <a:prstDash val="solid"/>
          </a:ln>
        </p:spPr>
      </p:sp>
      <p:sp>
        <p:nvSpPr>
          <p:cNvPr id="24" name="Text 22"/>
          <p:cNvSpPr/>
          <p:nvPr/>
        </p:nvSpPr>
        <p:spPr>
          <a:xfrm>
            <a:off x="731520" y="4608576"/>
            <a:ext cx="2286000" cy="50292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Core engine</a:t>
            </a:r>
            <a:endParaRPr lang="en-US" sz="1400" dirty="0"/>
          </a:p>
        </p:txBody>
      </p:sp>
      <p:sp>
        <p:nvSpPr>
          <p:cNvPr id="25" name="Shape 23"/>
          <p:cNvSpPr/>
          <p:nvPr/>
        </p:nvSpPr>
        <p:spPr>
          <a:xfrm>
            <a:off x="3017520" y="4572000"/>
            <a:ext cx="13716" cy="594360"/>
          </a:xfrm>
          <a:prstGeom prst="rect">
            <a:avLst/>
          </a:prstGeom>
          <a:solidFill>
            <a:srgbClr val="1F2A48"/>
          </a:solidFill>
          <a:ln w="12700">
            <a:solidFill>
              <a:srgbClr val="1F2A48"/>
            </a:solidFill>
            <a:prstDash val="solid"/>
          </a:ln>
        </p:spPr>
      </p:sp>
      <p:sp>
        <p:nvSpPr>
          <p:cNvPr id="26" name="Text 24"/>
          <p:cNvSpPr/>
          <p:nvPr/>
        </p:nvSpPr>
        <p:spPr>
          <a:xfrm>
            <a:off x="3154680" y="4608576"/>
            <a:ext cx="8412480" cy="594360"/>
          </a:xfrm>
          <a:prstGeom prst="rect">
            <a:avLst/>
          </a:prstGeom>
          <a:noFill/>
          <a:ln/>
        </p:spPr>
        <p:txBody>
          <a:bodyPr wrap="square" rtlCol="0" anchor="ctr"/>
          <a:lstStyle/>
          <a:p>
            <a:pPr indent="0" marL="0">
              <a:buNone/>
            </a:pPr>
            <a:r>
              <a:rPr lang="en-US" sz="1100" dirty="0">
                <a:solidFill>
                  <a:srgbClr val="D8DEE9"/>
                </a:solidFill>
                <a:latin typeface="Calibri" pitchFamily="34" charset="0"/>
                <a:ea typeface="Calibri" pitchFamily="34" charset="-122"/>
                <a:cs typeface="Calibri" pitchFamily="34" charset="-120"/>
              </a:rPr>
              <a:t>MagicLinkService · EmailOtpService · SmsOtpService  ·  PasskeyService · RecoveryCodeService  ·  TokenHasher · IRateLimiter · IAuditSink</a:t>
            </a:r>
            <a:endParaRPr lang="en-US" sz="1100" dirty="0"/>
          </a:p>
        </p:txBody>
      </p:sp>
      <p:sp>
        <p:nvSpPr>
          <p:cNvPr id="27" name="Shape 25"/>
          <p:cNvSpPr/>
          <p:nvPr/>
        </p:nvSpPr>
        <p:spPr>
          <a:xfrm>
            <a:off x="457200" y="5349240"/>
            <a:ext cx="11247120" cy="777240"/>
          </a:xfrm>
          <a:prstGeom prst="rect">
            <a:avLst/>
          </a:prstGeom>
          <a:solidFill>
            <a:srgbClr val="0F1730"/>
          </a:solidFill>
          <a:ln w="12700">
            <a:solidFill>
              <a:srgbClr val="1F2A48"/>
            </a:solidFill>
            <a:prstDash val="solid"/>
          </a:ln>
        </p:spPr>
      </p:sp>
      <p:sp>
        <p:nvSpPr>
          <p:cNvPr id="28" name="Shape 26"/>
          <p:cNvSpPr/>
          <p:nvPr/>
        </p:nvSpPr>
        <p:spPr>
          <a:xfrm>
            <a:off x="457200" y="5349240"/>
            <a:ext cx="109728" cy="777240"/>
          </a:xfrm>
          <a:prstGeom prst="rect">
            <a:avLst/>
          </a:prstGeom>
          <a:solidFill>
            <a:srgbClr val="F472B6"/>
          </a:solidFill>
          <a:ln w="12700">
            <a:solidFill>
              <a:srgbClr val="F472B6"/>
            </a:solidFill>
            <a:prstDash val="solid"/>
          </a:ln>
        </p:spPr>
      </p:sp>
      <p:sp>
        <p:nvSpPr>
          <p:cNvPr id="29" name="Text 27"/>
          <p:cNvSpPr/>
          <p:nvPr/>
        </p:nvSpPr>
        <p:spPr>
          <a:xfrm>
            <a:off x="731520" y="5477256"/>
            <a:ext cx="2286000" cy="50292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Stores + providers</a:t>
            </a:r>
            <a:endParaRPr lang="en-US" sz="1400" dirty="0"/>
          </a:p>
        </p:txBody>
      </p:sp>
      <p:sp>
        <p:nvSpPr>
          <p:cNvPr id="30" name="Shape 28"/>
          <p:cNvSpPr/>
          <p:nvPr/>
        </p:nvSpPr>
        <p:spPr>
          <a:xfrm>
            <a:off x="3017520" y="5440680"/>
            <a:ext cx="13716" cy="594360"/>
          </a:xfrm>
          <a:prstGeom prst="rect">
            <a:avLst/>
          </a:prstGeom>
          <a:solidFill>
            <a:srgbClr val="1F2A48"/>
          </a:solidFill>
          <a:ln w="12700">
            <a:solidFill>
              <a:srgbClr val="1F2A48"/>
            </a:solidFill>
            <a:prstDash val="solid"/>
          </a:ln>
        </p:spPr>
      </p:sp>
      <p:sp>
        <p:nvSpPr>
          <p:cNvPr id="31" name="Text 29"/>
          <p:cNvSpPr/>
          <p:nvPr/>
        </p:nvSpPr>
        <p:spPr>
          <a:xfrm>
            <a:off x="3154680" y="5477256"/>
            <a:ext cx="8412480" cy="594360"/>
          </a:xfrm>
          <a:prstGeom prst="rect">
            <a:avLst/>
          </a:prstGeom>
          <a:noFill/>
          <a:ln/>
        </p:spPr>
        <p:txBody>
          <a:bodyPr wrap="square" rtlCol="0" anchor="ctr"/>
          <a:lstStyle/>
          <a:p>
            <a:pPr indent="0" marL="0">
              <a:buNone/>
            </a:pPr>
            <a:r>
              <a:rPr lang="en-US" sz="1100" dirty="0">
                <a:solidFill>
                  <a:srgbClr val="D8DEE9"/>
                </a:solidFill>
                <a:latin typeface="Calibri" pitchFamily="34" charset="0"/>
                <a:ea typeface="Calibri" pitchFamily="34" charset="-122"/>
                <a:cs typeface="Calibri" pitchFamily="34" charset="-120"/>
              </a:rPr>
              <a:t>EF Core store · Identity adapter  ·  SMTP · SendGrid · SES · Postmark · MessageBird · Twilio  ·  Turnstile · hCaptcha · Fido2.AspNet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8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MULTI-TENANT</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Isolation in the store. Branding in the UI.</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Every store call carries a TenantContext. Every Razor page reads per-tenant logo + accent + WebAuthn RP id.</a:t>
            </a:r>
            <a:endParaRPr lang="en-US" sz="1500" dirty="0"/>
          </a:p>
        </p:txBody>
      </p:sp>
      <p:sp>
        <p:nvSpPr>
          <p:cNvPr id="12" name="Shape 10"/>
          <p:cNvSpPr/>
          <p:nvPr/>
        </p:nvSpPr>
        <p:spPr>
          <a:xfrm>
            <a:off x="457200" y="2743200"/>
            <a:ext cx="3657600" cy="3200400"/>
          </a:xfrm>
          <a:prstGeom prst="roundRect">
            <a:avLst>
              <a:gd name="adj" fmla="val 2857"/>
            </a:avLst>
          </a:prstGeom>
          <a:solidFill>
            <a:srgbClr val="0F1730"/>
          </a:solidFill>
          <a:ln w="12700">
            <a:solidFill>
              <a:srgbClr val="1F2A48"/>
            </a:solidFill>
            <a:prstDash val="solid"/>
          </a:ln>
        </p:spPr>
      </p:sp>
      <p:sp>
        <p:nvSpPr>
          <p:cNvPr id="13" name="Shape 11"/>
          <p:cNvSpPr/>
          <p:nvPr/>
        </p:nvSpPr>
        <p:spPr>
          <a:xfrm>
            <a:off x="822960" y="3108960"/>
            <a:ext cx="640080" cy="640080"/>
          </a:xfrm>
          <a:prstGeom prst="ellipse">
            <a:avLst/>
          </a:prstGeom>
          <a:solidFill>
            <a:srgbClr val="2563EB"/>
          </a:solidFill>
          <a:ln w="12700">
            <a:solidFill>
              <a:srgbClr val="2563EB"/>
            </a:solidFill>
            <a:prstDash val="solid"/>
          </a:ln>
        </p:spPr>
      </p:sp>
      <p:sp>
        <p:nvSpPr>
          <p:cNvPr id="14" name="Text 12"/>
          <p:cNvSpPr/>
          <p:nvPr/>
        </p:nvSpPr>
        <p:spPr>
          <a:xfrm>
            <a:off x="822960" y="3108960"/>
            <a:ext cx="640080" cy="640080"/>
          </a:xfrm>
          <a:prstGeom prst="rect">
            <a:avLst/>
          </a:prstGeom>
          <a:noFill/>
          <a:ln/>
        </p:spPr>
        <p:txBody>
          <a:bodyPr wrap="square" rtlCol="0" anchor="ctr"/>
          <a:lstStyle/>
          <a:p>
            <a:pPr algn="ctr" indent="0" marL="0">
              <a:buNone/>
            </a:pPr>
            <a:r>
              <a:rPr lang="en-US" sz="2200" b="1" dirty="0">
                <a:solidFill>
                  <a:srgbClr val="F5F7FA"/>
                </a:solidFill>
                <a:latin typeface="Calibri" pitchFamily="34" charset="0"/>
                <a:ea typeface="Calibri" pitchFamily="34" charset="-122"/>
                <a:cs typeface="Calibri" pitchFamily="34" charset="-120"/>
              </a:rPr>
              <a:t>A</a:t>
            </a:r>
            <a:endParaRPr lang="en-US" sz="2200" dirty="0"/>
          </a:p>
        </p:txBody>
      </p:sp>
      <p:sp>
        <p:nvSpPr>
          <p:cNvPr id="15" name="Text 13"/>
          <p:cNvSpPr/>
          <p:nvPr/>
        </p:nvSpPr>
        <p:spPr>
          <a:xfrm>
            <a:off x="1600200" y="3154680"/>
            <a:ext cx="2286000" cy="457200"/>
          </a:xfrm>
          <a:prstGeom prst="rect">
            <a:avLst/>
          </a:prstGeom>
          <a:noFill/>
          <a:ln/>
        </p:spPr>
        <p:txBody>
          <a:bodyPr wrap="square" rtlCol="0" anchor="ctr"/>
          <a:lstStyle/>
          <a:p>
            <a:pPr indent="0" marL="0">
              <a:buNone/>
            </a:pPr>
            <a:r>
              <a:rPr lang="en-US" sz="1800" b="1" dirty="0">
                <a:solidFill>
                  <a:srgbClr val="F5F7FA"/>
                </a:solidFill>
                <a:latin typeface="Calibri" pitchFamily="34" charset="0"/>
                <a:ea typeface="Calibri" pitchFamily="34" charset="-122"/>
                <a:cs typeface="Calibri" pitchFamily="34" charset="-120"/>
              </a:rPr>
              <a:t>Acme</a:t>
            </a:r>
            <a:endParaRPr lang="en-US" sz="1800" dirty="0"/>
          </a:p>
        </p:txBody>
      </p:sp>
      <p:sp>
        <p:nvSpPr>
          <p:cNvPr id="16" name="Text 14"/>
          <p:cNvSpPr/>
          <p:nvPr/>
        </p:nvSpPr>
        <p:spPr>
          <a:xfrm>
            <a:off x="822960" y="4023360"/>
            <a:ext cx="2926080" cy="36576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Sign in</a:t>
            </a:r>
            <a:endParaRPr lang="en-US" sz="1400" dirty="0"/>
          </a:p>
        </p:txBody>
      </p:sp>
      <p:sp>
        <p:nvSpPr>
          <p:cNvPr id="17" name="Text 15"/>
          <p:cNvSpPr/>
          <p:nvPr/>
        </p:nvSpPr>
        <p:spPr>
          <a:xfrm>
            <a:off x="822960" y="4434840"/>
            <a:ext cx="2926080" cy="320040"/>
          </a:xfrm>
          <a:prstGeom prst="rect">
            <a:avLst/>
          </a:prstGeom>
          <a:noFill/>
          <a:ln/>
        </p:spPr>
        <p:txBody>
          <a:bodyPr wrap="square" rtlCol="0" anchor="ctr"/>
          <a:lstStyle/>
          <a:p>
            <a:pPr indent="0" marL="0">
              <a:buNone/>
            </a:pPr>
            <a:r>
              <a:rPr lang="en-US" sz="1000" dirty="0">
                <a:solidFill>
                  <a:srgbClr val="8B95AD"/>
                </a:solidFill>
                <a:latin typeface="Calibri" pitchFamily="34" charset="0"/>
                <a:ea typeface="Calibri" pitchFamily="34" charset="-122"/>
                <a:cs typeface="Calibri" pitchFamily="34" charset="-120"/>
              </a:rPr>
              <a:t>you@acme.com</a:t>
            </a:r>
            <a:endParaRPr lang="en-US" sz="1000" dirty="0"/>
          </a:p>
        </p:txBody>
      </p:sp>
      <p:sp>
        <p:nvSpPr>
          <p:cNvPr id="18" name="Shape 16"/>
          <p:cNvSpPr/>
          <p:nvPr/>
        </p:nvSpPr>
        <p:spPr>
          <a:xfrm>
            <a:off x="822960" y="4800600"/>
            <a:ext cx="2926080" cy="411480"/>
          </a:xfrm>
          <a:prstGeom prst="roundRect">
            <a:avLst>
              <a:gd name="adj" fmla="val 13333"/>
            </a:avLst>
          </a:prstGeom>
          <a:solidFill>
            <a:srgbClr val="2563EB"/>
          </a:solidFill>
          <a:ln w="12700">
            <a:solidFill>
              <a:srgbClr val="2563EB"/>
            </a:solidFill>
            <a:prstDash val="solid"/>
          </a:ln>
        </p:spPr>
      </p:sp>
      <p:sp>
        <p:nvSpPr>
          <p:cNvPr id="19" name="Text 17"/>
          <p:cNvSpPr/>
          <p:nvPr/>
        </p:nvSpPr>
        <p:spPr>
          <a:xfrm>
            <a:off x="822960" y="4800600"/>
            <a:ext cx="2926080" cy="41148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Email me a sign-in link</a:t>
            </a:r>
            <a:endParaRPr lang="en-US" sz="1100" dirty="0"/>
          </a:p>
        </p:txBody>
      </p:sp>
      <p:sp>
        <p:nvSpPr>
          <p:cNvPr id="20" name="Text 18"/>
          <p:cNvSpPr/>
          <p:nvPr/>
        </p:nvSpPr>
        <p:spPr>
          <a:xfrm>
            <a:off x="822960" y="5394960"/>
            <a:ext cx="2926080" cy="274320"/>
          </a:xfrm>
          <a:prstGeom prst="rect">
            <a:avLst/>
          </a:prstGeom>
          <a:noFill/>
          <a:ln/>
        </p:spPr>
        <p:txBody>
          <a:bodyPr wrap="square" rtlCol="0" anchor="ctr"/>
          <a:lstStyle/>
          <a:p>
            <a:pPr algn="ctr" indent="0" marL="0">
              <a:buNone/>
            </a:pPr>
            <a:r>
              <a:rPr lang="en-US" sz="900" dirty="0">
                <a:solidFill>
                  <a:srgbClr val="8B95AD"/>
                </a:solidFill>
                <a:latin typeface="Calibri" pitchFamily="34" charset="0"/>
                <a:ea typeface="Calibri" pitchFamily="34" charset="-122"/>
                <a:cs typeface="Calibri" pitchFamily="34" charset="-120"/>
              </a:rPr>
              <a:t>· passkey  · OTP  · recovery</a:t>
            </a:r>
            <a:endParaRPr lang="en-US" sz="900" dirty="0"/>
          </a:p>
        </p:txBody>
      </p:sp>
      <p:sp>
        <p:nvSpPr>
          <p:cNvPr id="21" name="Shape 19"/>
          <p:cNvSpPr/>
          <p:nvPr/>
        </p:nvSpPr>
        <p:spPr>
          <a:xfrm>
            <a:off x="4389120" y="2743200"/>
            <a:ext cx="3657600" cy="3200400"/>
          </a:xfrm>
          <a:prstGeom prst="roundRect">
            <a:avLst>
              <a:gd name="adj" fmla="val 2857"/>
            </a:avLst>
          </a:prstGeom>
          <a:solidFill>
            <a:srgbClr val="0F1730"/>
          </a:solidFill>
          <a:ln w="12700">
            <a:solidFill>
              <a:srgbClr val="1F2A48"/>
            </a:solidFill>
            <a:prstDash val="solid"/>
          </a:ln>
        </p:spPr>
      </p:sp>
      <p:sp>
        <p:nvSpPr>
          <p:cNvPr id="22" name="Shape 20"/>
          <p:cNvSpPr/>
          <p:nvPr/>
        </p:nvSpPr>
        <p:spPr>
          <a:xfrm>
            <a:off x="4754880" y="3108960"/>
            <a:ext cx="640080" cy="640080"/>
          </a:xfrm>
          <a:prstGeom prst="ellipse">
            <a:avLst/>
          </a:prstGeom>
          <a:solidFill>
            <a:srgbClr val="F59E0B"/>
          </a:solidFill>
          <a:ln w="12700">
            <a:solidFill>
              <a:srgbClr val="F59E0B"/>
            </a:solidFill>
            <a:prstDash val="solid"/>
          </a:ln>
        </p:spPr>
      </p:sp>
      <p:sp>
        <p:nvSpPr>
          <p:cNvPr id="23" name="Text 21"/>
          <p:cNvSpPr/>
          <p:nvPr/>
        </p:nvSpPr>
        <p:spPr>
          <a:xfrm>
            <a:off x="4754880" y="3108960"/>
            <a:ext cx="640080" cy="640080"/>
          </a:xfrm>
          <a:prstGeom prst="rect">
            <a:avLst/>
          </a:prstGeom>
          <a:noFill/>
          <a:ln/>
        </p:spPr>
        <p:txBody>
          <a:bodyPr wrap="square" rtlCol="0" anchor="ctr"/>
          <a:lstStyle/>
          <a:p>
            <a:pPr algn="ctr" indent="0" marL="0">
              <a:buNone/>
            </a:pPr>
            <a:r>
              <a:rPr lang="en-US" sz="2200" b="1" dirty="0">
                <a:solidFill>
                  <a:srgbClr val="F5F7FA"/>
                </a:solidFill>
                <a:latin typeface="Calibri" pitchFamily="34" charset="0"/>
                <a:ea typeface="Calibri" pitchFamily="34" charset="-122"/>
                <a:cs typeface="Calibri" pitchFamily="34" charset="-120"/>
              </a:rPr>
              <a:t>G</a:t>
            </a:r>
            <a:endParaRPr lang="en-US" sz="2200" dirty="0"/>
          </a:p>
        </p:txBody>
      </p:sp>
      <p:sp>
        <p:nvSpPr>
          <p:cNvPr id="24" name="Text 22"/>
          <p:cNvSpPr/>
          <p:nvPr/>
        </p:nvSpPr>
        <p:spPr>
          <a:xfrm>
            <a:off x="5532120" y="3154680"/>
            <a:ext cx="2286000" cy="457200"/>
          </a:xfrm>
          <a:prstGeom prst="rect">
            <a:avLst/>
          </a:prstGeom>
          <a:noFill/>
          <a:ln/>
        </p:spPr>
        <p:txBody>
          <a:bodyPr wrap="square" rtlCol="0" anchor="ctr"/>
          <a:lstStyle/>
          <a:p>
            <a:pPr indent="0" marL="0">
              <a:buNone/>
            </a:pPr>
            <a:r>
              <a:rPr lang="en-US" sz="1800" b="1" dirty="0">
                <a:solidFill>
                  <a:srgbClr val="F5F7FA"/>
                </a:solidFill>
                <a:latin typeface="Calibri" pitchFamily="34" charset="0"/>
                <a:ea typeface="Calibri" pitchFamily="34" charset="-122"/>
                <a:cs typeface="Calibri" pitchFamily="34" charset="-120"/>
              </a:rPr>
              <a:t>Globex</a:t>
            </a:r>
            <a:endParaRPr lang="en-US" sz="1800" dirty="0"/>
          </a:p>
        </p:txBody>
      </p:sp>
      <p:sp>
        <p:nvSpPr>
          <p:cNvPr id="25" name="Text 23"/>
          <p:cNvSpPr/>
          <p:nvPr/>
        </p:nvSpPr>
        <p:spPr>
          <a:xfrm>
            <a:off x="4754880" y="4023360"/>
            <a:ext cx="2926080" cy="36576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Sign in</a:t>
            </a:r>
            <a:endParaRPr lang="en-US" sz="1400" dirty="0"/>
          </a:p>
        </p:txBody>
      </p:sp>
      <p:sp>
        <p:nvSpPr>
          <p:cNvPr id="26" name="Text 24"/>
          <p:cNvSpPr/>
          <p:nvPr/>
        </p:nvSpPr>
        <p:spPr>
          <a:xfrm>
            <a:off x="4754880" y="4434840"/>
            <a:ext cx="2926080" cy="320040"/>
          </a:xfrm>
          <a:prstGeom prst="rect">
            <a:avLst/>
          </a:prstGeom>
          <a:noFill/>
          <a:ln/>
        </p:spPr>
        <p:txBody>
          <a:bodyPr wrap="square" rtlCol="0" anchor="ctr"/>
          <a:lstStyle/>
          <a:p>
            <a:pPr indent="0" marL="0">
              <a:buNone/>
            </a:pPr>
            <a:r>
              <a:rPr lang="en-US" sz="1000" dirty="0">
                <a:solidFill>
                  <a:srgbClr val="8B95AD"/>
                </a:solidFill>
                <a:latin typeface="Calibri" pitchFamily="34" charset="0"/>
                <a:ea typeface="Calibri" pitchFamily="34" charset="-122"/>
                <a:cs typeface="Calibri" pitchFamily="34" charset="-120"/>
              </a:rPr>
              <a:t>you@globex.com</a:t>
            </a:r>
            <a:endParaRPr lang="en-US" sz="1000" dirty="0"/>
          </a:p>
        </p:txBody>
      </p:sp>
      <p:sp>
        <p:nvSpPr>
          <p:cNvPr id="27" name="Shape 25"/>
          <p:cNvSpPr/>
          <p:nvPr/>
        </p:nvSpPr>
        <p:spPr>
          <a:xfrm>
            <a:off x="4754880" y="4800600"/>
            <a:ext cx="2926080" cy="411480"/>
          </a:xfrm>
          <a:prstGeom prst="roundRect">
            <a:avLst>
              <a:gd name="adj" fmla="val 13333"/>
            </a:avLst>
          </a:prstGeom>
          <a:solidFill>
            <a:srgbClr val="F59E0B"/>
          </a:solidFill>
          <a:ln w="12700">
            <a:solidFill>
              <a:srgbClr val="F59E0B"/>
            </a:solidFill>
            <a:prstDash val="solid"/>
          </a:ln>
        </p:spPr>
      </p:sp>
      <p:sp>
        <p:nvSpPr>
          <p:cNvPr id="28" name="Text 26"/>
          <p:cNvSpPr/>
          <p:nvPr/>
        </p:nvSpPr>
        <p:spPr>
          <a:xfrm>
            <a:off x="4754880" y="4800600"/>
            <a:ext cx="2926080" cy="41148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Email me a sign-in link</a:t>
            </a:r>
            <a:endParaRPr lang="en-US" sz="1100" dirty="0"/>
          </a:p>
        </p:txBody>
      </p:sp>
      <p:sp>
        <p:nvSpPr>
          <p:cNvPr id="29" name="Text 27"/>
          <p:cNvSpPr/>
          <p:nvPr/>
        </p:nvSpPr>
        <p:spPr>
          <a:xfrm>
            <a:off x="4754880" y="5394960"/>
            <a:ext cx="2926080" cy="274320"/>
          </a:xfrm>
          <a:prstGeom prst="rect">
            <a:avLst/>
          </a:prstGeom>
          <a:noFill/>
          <a:ln/>
        </p:spPr>
        <p:txBody>
          <a:bodyPr wrap="square" rtlCol="0" anchor="ctr"/>
          <a:lstStyle/>
          <a:p>
            <a:pPr algn="ctr" indent="0" marL="0">
              <a:buNone/>
            </a:pPr>
            <a:r>
              <a:rPr lang="en-US" sz="900" dirty="0">
                <a:solidFill>
                  <a:srgbClr val="8B95AD"/>
                </a:solidFill>
                <a:latin typeface="Calibri" pitchFamily="34" charset="0"/>
                <a:ea typeface="Calibri" pitchFamily="34" charset="-122"/>
                <a:cs typeface="Calibri" pitchFamily="34" charset="-120"/>
              </a:rPr>
              <a:t>· passkey  · OTP  · recovery</a:t>
            </a:r>
            <a:endParaRPr lang="en-US" sz="900" dirty="0"/>
          </a:p>
        </p:txBody>
      </p:sp>
      <p:sp>
        <p:nvSpPr>
          <p:cNvPr id="30" name="Shape 28"/>
          <p:cNvSpPr/>
          <p:nvPr/>
        </p:nvSpPr>
        <p:spPr>
          <a:xfrm>
            <a:off x="8321040" y="2743200"/>
            <a:ext cx="3657600" cy="3200400"/>
          </a:xfrm>
          <a:prstGeom prst="roundRect">
            <a:avLst>
              <a:gd name="adj" fmla="val 2857"/>
            </a:avLst>
          </a:prstGeom>
          <a:solidFill>
            <a:srgbClr val="0F1730"/>
          </a:solidFill>
          <a:ln w="12700">
            <a:solidFill>
              <a:srgbClr val="1F2A48"/>
            </a:solidFill>
            <a:prstDash val="solid"/>
          </a:ln>
        </p:spPr>
      </p:sp>
      <p:sp>
        <p:nvSpPr>
          <p:cNvPr id="31" name="Shape 29"/>
          <p:cNvSpPr/>
          <p:nvPr/>
        </p:nvSpPr>
        <p:spPr>
          <a:xfrm>
            <a:off x="8686800" y="3108960"/>
            <a:ext cx="640080" cy="640080"/>
          </a:xfrm>
          <a:prstGeom prst="ellipse">
            <a:avLst/>
          </a:prstGeom>
          <a:solidFill>
            <a:srgbClr val="10B981"/>
          </a:solidFill>
          <a:ln w="12700">
            <a:solidFill>
              <a:srgbClr val="10B981"/>
            </a:solidFill>
            <a:prstDash val="solid"/>
          </a:ln>
        </p:spPr>
      </p:sp>
      <p:sp>
        <p:nvSpPr>
          <p:cNvPr id="32" name="Text 30"/>
          <p:cNvSpPr/>
          <p:nvPr/>
        </p:nvSpPr>
        <p:spPr>
          <a:xfrm>
            <a:off x="8686800" y="3108960"/>
            <a:ext cx="640080" cy="640080"/>
          </a:xfrm>
          <a:prstGeom prst="rect">
            <a:avLst/>
          </a:prstGeom>
          <a:noFill/>
          <a:ln/>
        </p:spPr>
        <p:txBody>
          <a:bodyPr wrap="square" rtlCol="0" anchor="ctr"/>
          <a:lstStyle/>
          <a:p>
            <a:pPr algn="ctr" indent="0" marL="0">
              <a:buNone/>
            </a:pPr>
            <a:r>
              <a:rPr lang="en-US" sz="2200" b="1" dirty="0">
                <a:solidFill>
                  <a:srgbClr val="F5F7FA"/>
                </a:solidFill>
                <a:latin typeface="Calibri" pitchFamily="34" charset="0"/>
                <a:ea typeface="Calibri" pitchFamily="34" charset="-122"/>
                <a:cs typeface="Calibri" pitchFamily="34" charset="-120"/>
              </a:rPr>
              <a:t>I</a:t>
            </a:r>
            <a:endParaRPr lang="en-US" sz="2200" dirty="0"/>
          </a:p>
        </p:txBody>
      </p:sp>
      <p:sp>
        <p:nvSpPr>
          <p:cNvPr id="33" name="Text 31"/>
          <p:cNvSpPr/>
          <p:nvPr/>
        </p:nvSpPr>
        <p:spPr>
          <a:xfrm>
            <a:off x="9464040" y="3154680"/>
            <a:ext cx="2286000" cy="457200"/>
          </a:xfrm>
          <a:prstGeom prst="rect">
            <a:avLst/>
          </a:prstGeom>
          <a:noFill/>
          <a:ln/>
        </p:spPr>
        <p:txBody>
          <a:bodyPr wrap="square" rtlCol="0" anchor="ctr"/>
          <a:lstStyle/>
          <a:p>
            <a:pPr indent="0" marL="0">
              <a:buNone/>
            </a:pPr>
            <a:r>
              <a:rPr lang="en-US" sz="1800" b="1" dirty="0">
                <a:solidFill>
                  <a:srgbClr val="F5F7FA"/>
                </a:solidFill>
                <a:latin typeface="Calibri" pitchFamily="34" charset="0"/>
                <a:ea typeface="Calibri" pitchFamily="34" charset="-122"/>
                <a:cs typeface="Calibri" pitchFamily="34" charset="-120"/>
              </a:rPr>
              <a:t>Initech</a:t>
            </a:r>
            <a:endParaRPr lang="en-US" sz="1800" dirty="0"/>
          </a:p>
        </p:txBody>
      </p:sp>
      <p:sp>
        <p:nvSpPr>
          <p:cNvPr id="34" name="Text 32"/>
          <p:cNvSpPr/>
          <p:nvPr/>
        </p:nvSpPr>
        <p:spPr>
          <a:xfrm>
            <a:off x="8686800" y="4023360"/>
            <a:ext cx="2926080" cy="36576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Sign in</a:t>
            </a:r>
            <a:endParaRPr lang="en-US" sz="1400" dirty="0"/>
          </a:p>
        </p:txBody>
      </p:sp>
      <p:sp>
        <p:nvSpPr>
          <p:cNvPr id="35" name="Text 33"/>
          <p:cNvSpPr/>
          <p:nvPr/>
        </p:nvSpPr>
        <p:spPr>
          <a:xfrm>
            <a:off x="8686800" y="4434840"/>
            <a:ext cx="2926080" cy="320040"/>
          </a:xfrm>
          <a:prstGeom prst="rect">
            <a:avLst/>
          </a:prstGeom>
          <a:noFill/>
          <a:ln/>
        </p:spPr>
        <p:txBody>
          <a:bodyPr wrap="square" rtlCol="0" anchor="ctr"/>
          <a:lstStyle/>
          <a:p>
            <a:pPr indent="0" marL="0">
              <a:buNone/>
            </a:pPr>
            <a:r>
              <a:rPr lang="en-US" sz="1000" dirty="0">
                <a:solidFill>
                  <a:srgbClr val="8B95AD"/>
                </a:solidFill>
                <a:latin typeface="Calibri" pitchFamily="34" charset="0"/>
                <a:ea typeface="Calibri" pitchFamily="34" charset="-122"/>
                <a:cs typeface="Calibri" pitchFamily="34" charset="-120"/>
              </a:rPr>
              <a:t>you@initech.com</a:t>
            </a:r>
            <a:endParaRPr lang="en-US" sz="1000" dirty="0"/>
          </a:p>
        </p:txBody>
      </p:sp>
      <p:sp>
        <p:nvSpPr>
          <p:cNvPr id="36" name="Shape 34"/>
          <p:cNvSpPr/>
          <p:nvPr/>
        </p:nvSpPr>
        <p:spPr>
          <a:xfrm>
            <a:off x="8686800" y="4800600"/>
            <a:ext cx="2926080" cy="411480"/>
          </a:xfrm>
          <a:prstGeom prst="roundRect">
            <a:avLst>
              <a:gd name="adj" fmla="val 13333"/>
            </a:avLst>
          </a:prstGeom>
          <a:solidFill>
            <a:srgbClr val="10B981"/>
          </a:solidFill>
          <a:ln w="12700">
            <a:solidFill>
              <a:srgbClr val="10B981"/>
            </a:solidFill>
            <a:prstDash val="solid"/>
          </a:ln>
        </p:spPr>
      </p:sp>
      <p:sp>
        <p:nvSpPr>
          <p:cNvPr id="37" name="Text 35"/>
          <p:cNvSpPr/>
          <p:nvPr/>
        </p:nvSpPr>
        <p:spPr>
          <a:xfrm>
            <a:off x="8686800" y="4800600"/>
            <a:ext cx="2926080" cy="411480"/>
          </a:xfrm>
          <a:prstGeom prst="rect">
            <a:avLst/>
          </a:prstGeom>
          <a:noFill/>
          <a:ln/>
        </p:spPr>
        <p:txBody>
          <a:bodyPr wrap="square" rtlCol="0" anchor="ctr"/>
          <a:lstStyle/>
          <a:p>
            <a:pPr algn="ctr" indent="0" marL="0">
              <a:buNone/>
            </a:pPr>
            <a:r>
              <a:rPr lang="en-US" sz="1100" b="1" dirty="0">
                <a:solidFill>
                  <a:srgbClr val="F5F7FA"/>
                </a:solidFill>
                <a:latin typeface="Calibri" pitchFamily="34" charset="0"/>
                <a:ea typeface="Calibri" pitchFamily="34" charset="-122"/>
                <a:cs typeface="Calibri" pitchFamily="34" charset="-120"/>
              </a:rPr>
              <a:t>Email me a sign-in link</a:t>
            </a:r>
            <a:endParaRPr lang="en-US" sz="1100" dirty="0"/>
          </a:p>
        </p:txBody>
      </p:sp>
      <p:sp>
        <p:nvSpPr>
          <p:cNvPr id="38" name="Text 36"/>
          <p:cNvSpPr/>
          <p:nvPr/>
        </p:nvSpPr>
        <p:spPr>
          <a:xfrm>
            <a:off x="8686800" y="5394960"/>
            <a:ext cx="2926080" cy="274320"/>
          </a:xfrm>
          <a:prstGeom prst="rect">
            <a:avLst/>
          </a:prstGeom>
          <a:noFill/>
          <a:ln/>
        </p:spPr>
        <p:txBody>
          <a:bodyPr wrap="square" rtlCol="0" anchor="ctr"/>
          <a:lstStyle/>
          <a:p>
            <a:pPr algn="ctr" indent="0" marL="0">
              <a:buNone/>
            </a:pPr>
            <a:r>
              <a:rPr lang="en-US" sz="900" dirty="0">
                <a:solidFill>
                  <a:srgbClr val="8B95AD"/>
                </a:solidFill>
                <a:latin typeface="Calibri" pitchFamily="34" charset="0"/>
                <a:ea typeface="Calibri" pitchFamily="34" charset="-122"/>
                <a:cs typeface="Calibri" pitchFamily="34" charset="-120"/>
              </a:rPr>
              <a:t>· passkey  · OTP  · recovery</a:t>
            </a:r>
            <a:endParaRPr lang="en-US" sz="900" dirty="0"/>
          </a:p>
        </p:txBody>
      </p:sp>
      <p:sp>
        <p:nvSpPr>
          <p:cNvPr id="39" name="Text 37"/>
          <p:cNvSpPr/>
          <p:nvPr/>
        </p:nvSpPr>
        <p:spPr>
          <a:xfrm>
            <a:off x="457200" y="6080760"/>
            <a:ext cx="11247120" cy="320040"/>
          </a:xfrm>
          <a:prstGeom prst="rect">
            <a:avLst/>
          </a:prstGeom>
          <a:noFill/>
          <a:ln/>
        </p:spPr>
        <p:txBody>
          <a:bodyPr wrap="square" rtlCol="0" anchor="ctr"/>
          <a:lstStyle/>
          <a:p>
            <a:pPr indent="0" marL="0">
              <a:buNone/>
            </a:pPr>
            <a:r>
              <a:rPr lang="en-US" sz="1200" i="1" dirty="0">
                <a:solidFill>
                  <a:srgbClr val="22D3EE"/>
                </a:solidFill>
                <a:latin typeface="Calibri" pitchFamily="34" charset="0"/>
                <a:ea typeface="Calibri" pitchFamily="34" charset="-122"/>
                <a:cs typeface="Calibri" pitchFamily="34" charset="-120"/>
              </a:rPr>
              <a:t>Same library. Same code. Different brand per tenant — all rendered from per-tenant options.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9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PROVIDER ECOSYSTEM</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Swap providers in one line.</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IEmailSender / ISmsSender / IRiskSignalProvider — pick the adapter that matches your stack.</a:t>
            </a:r>
            <a:endParaRPr lang="en-US" sz="1500" dirty="0"/>
          </a:p>
        </p:txBody>
      </p:sp>
      <p:sp>
        <p:nvSpPr>
          <p:cNvPr id="12" name="Text 10"/>
          <p:cNvSpPr/>
          <p:nvPr/>
        </p:nvSpPr>
        <p:spPr>
          <a:xfrm>
            <a:off x="457200" y="2788920"/>
            <a:ext cx="1371600" cy="274320"/>
          </a:xfrm>
          <a:prstGeom prst="rect">
            <a:avLst/>
          </a:prstGeom>
          <a:noFill/>
          <a:ln/>
        </p:spPr>
        <p:txBody>
          <a:bodyPr wrap="square"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EMAIL</a:t>
            </a:r>
            <a:endParaRPr lang="en-US" sz="1100" dirty="0"/>
          </a:p>
        </p:txBody>
      </p:sp>
      <p:sp>
        <p:nvSpPr>
          <p:cNvPr id="13" name="Shape 11"/>
          <p:cNvSpPr/>
          <p:nvPr/>
        </p:nvSpPr>
        <p:spPr>
          <a:xfrm>
            <a:off x="457200" y="3108960"/>
            <a:ext cx="2148840" cy="777240"/>
          </a:xfrm>
          <a:prstGeom prst="roundRect">
            <a:avLst>
              <a:gd name="adj" fmla="val 9412"/>
            </a:avLst>
          </a:prstGeom>
          <a:solidFill>
            <a:srgbClr val="0F1730"/>
          </a:solidFill>
          <a:ln w="12700">
            <a:solidFill>
              <a:srgbClr val="1F2A48"/>
            </a:solidFill>
            <a:prstDash val="solid"/>
          </a:ln>
        </p:spPr>
      </p:sp>
      <p:sp>
        <p:nvSpPr>
          <p:cNvPr id="14" name="Shape 12"/>
          <p:cNvSpPr/>
          <p:nvPr/>
        </p:nvSpPr>
        <p:spPr>
          <a:xfrm>
            <a:off x="457200" y="3108960"/>
            <a:ext cx="54864" cy="777240"/>
          </a:xfrm>
          <a:prstGeom prst="rect">
            <a:avLst/>
          </a:prstGeom>
          <a:solidFill>
            <a:srgbClr val="2563EB"/>
          </a:solidFill>
          <a:ln w="12700">
            <a:solidFill>
              <a:srgbClr val="2563EB"/>
            </a:solidFill>
            <a:prstDash val="solid"/>
          </a:ln>
        </p:spPr>
      </p:sp>
      <p:sp>
        <p:nvSpPr>
          <p:cNvPr id="15" name="Text 13"/>
          <p:cNvSpPr/>
          <p:nvPr/>
        </p:nvSpPr>
        <p:spPr>
          <a:xfrm>
            <a:off x="640080" y="3108960"/>
            <a:ext cx="1874520" cy="7772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SMTP / MailKit</a:t>
            </a:r>
            <a:endParaRPr lang="en-US" sz="1300" dirty="0"/>
          </a:p>
        </p:txBody>
      </p:sp>
      <p:sp>
        <p:nvSpPr>
          <p:cNvPr id="16" name="Shape 14"/>
          <p:cNvSpPr/>
          <p:nvPr/>
        </p:nvSpPr>
        <p:spPr>
          <a:xfrm>
            <a:off x="2743200" y="3108960"/>
            <a:ext cx="2148840" cy="777240"/>
          </a:xfrm>
          <a:prstGeom prst="roundRect">
            <a:avLst>
              <a:gd name="adj" fmla="val 9412"/>
            </a:avLst>
          </a:prstGeom>
          <a:solidFill>
            <a:srgbClr val="0F1730"/>
          </a:solidFill>
          <a:ln w="12700">
            <a:solidFill>
              <a:srgbClr val="1F2A48"/>
            </a:solidFill>
            <a:prstDash val="solid"/>
          </a:ln>
        </p:spPr>
      </p:sp>
      <p:sp>
        <p:nvSpPr>
          <p:cNvPr id="17" name="Shape 15"/>
          <p:cNvSpPr/>
          <p:nvPr/>
        </p:nvSpPr>
        <p:spPr>
          <a:xfrm>
            <a:off x="2743200" y="3108960"/>
            <a:ext cx="54864" cy="777240"/>
          </a:xfrm>
          <a:prstGeom prst="rect">
            <a:avLst/>
          </a:prstGeom>
          <a:solidFill>
            <a:srgbClr val="2563EB"/>
          </a:solidFill>
          <a:ln w="12700">
            <a:solidFill>
              <a:srgbClr val="2563EB"/>
            </a:solidFill>
            <a:prstDash val="solid"/>
          </a:ln>
        </p:spPr>
      </p:sp>
      <p:sp>
        <p:nvSpPr>
          <p:cNvPr id="18" name="Text 16"/>
          <p:cNvSpPr/>
          <p:nvPr/>
        </p:nvSpPr>
        <p:spPr>
          <a:xfrm>
            <a:off x="2926080" y="3108960"/>
            <a:ext cx="1874520" cy="7772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SendGrid</a:t>
            </a:r>
            <a:endParaRPr lang="en-US" sz="1300" dirty="0"/>
          </a:p>
        </p:txBody>
      </p:sp>
      <p:sp>
        <p:nvSpPr>
          <p:cNvPr id="19" name="Shape 17"/>
          <p:cNvSpPr/>
          <p:nvPr/>
        </p:nvSpPr>
        <p:spPr>
          <a:xfrm>
            <a:off x="5029200" y="3108960"/>
            <a:ext cx="2148840" cy="777240"/>
          </a:xfrm>
          <a:prstGeom prst="roundRect">
            <a:avLst>
              <a:gd name="adj" fmla="val 9412"/>
            </a:avLst>
          </a:prstGeom>
          <a:solidFill>
            <a:srgbClr val="0F1730"/>
          </a:solidFill>
          <a:ln w="12700">
            <a:solidFill>
              <a:srgbClr val="1F2A48"/>
            </a:solidFill>
            <a:prstDash val="solid"/>
          </a:ln>
        </p:spPr>
      </p:sp>
      <p:sp>
        <p:nvSpPr>
          <p:cNvPr id="20" name="Shape 18"/>
          <p:cNvSpPr/>
          <p:nvPr/>
        </p:nvSpPr>
        <p:spPr>
          <a:xfrm>
            <a:off x="5029200" y="3108960"/>
            <a:ext cx="54864" cy="777240"/>
          </a:xfrm>
          <a:prstGeom prst="rect">
            <a:avLst/>
          </a:prstGeom>
          <a:solidFill>
            <a:srgbClr val="2563EB"/>
          </a:solidFill>
          <a:ln w="12700">
            <a:solidFill>
              <a:srgbClr val="2563EB"/>
            </a:solidFill>
            <a:prstDash val="solid"/>
          </a:ln>
        </p:spPr>
      </p:sp>
      <p:sp>
        <p:nvSpPr>
          <p:cNvPr id="21" name="Text 19"/>
          <p:cNvSpPr/>
          <p:nvPr/>
        </p:nvSpPr>
        <p:spPr>
          <a:xfrm>
            <a:off x="5212080" y="3108960"/>
            <a:ext cx="1874520" cy="7772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Amazon SES</a:t>
            </a:r>
            <a:endParaRPr lang="en-US" sz="1300" dirty="0"/>
          </a:p>
        </p:txBody>
      </p:sp>
      <p:sp>
        <p:nvSpPr>
          <p:cNvPr id="22" name="Shape 20"/>
          <p:cNvSpPr/>
          <p:nvPr/>
        </p:nvSpPr>
        <p:spPr>
          <a:xfrm>
            <a:off x="7315200" y="3108960"/>
            <a:ext cx="2148840" cy="777240"/>
          </a:xfrm>
          <a:prstGeom prst="roundRect">
            <a:avLst>
              <a:gd name="adj" fmla="val 9412"/>
            </a:avLst>
          </a:prstGeom>
          <a:solidFill>
            <a:srgbClr val="0F1730"/>
          </a:solidFill>
          <a:ln w="12700">
            <a:solidFill>
              <a:srgbClr val="1F2A48"/>
            </a:solidFill>
            <a:prstDash val="solid"/>
          </a:ln>
        </p:spPr>
      </p:sp>
      <p:sp>
        <p:nvSpPr>
          <p:cNvPr id="23" name="Shape 21"/>
          <p:cNvSpPr/>
          <p:nvPr/>
        </p:nvSpPr>
        <p:spPr>
          <a:xfrm>
            <a:off x="7315200" y="3108960"/>
            <a:ext cx="54864" cy="777240"/>
          </a:xfrm>
          <a:prstGeom prst="rect">
            <a:avLst/>
          </a:prstGeom>
          <a:solidFill>
            <a:srgbClr val="2563EB"/>
          </a:solidFill>
          <a:ln w="12700">
            <a:solidFill>
              <a:srgbClr val="2563EB"/>
            </a:solidFill>
            <a:prstDash val="solid"/>
          </a:ln>
        </p:spPr>
      </p:sp>
      <p:sp>
        <p:nvSpPr>
          <p:cNvPr id="24" name="Text 22"/>
          <p:cNvSpPr/>
          <p:nvPr/>
        </p:nvSpPr>
        <p:spPr>
          <a:xfrm>
            <a:off x="7498080" y="3108960"/>
            <a:ext cx="1874520" cy="7772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Postmark</a:t>
            </a:r>
            <a:endParaRPr lang="en-US" sz="1300" dirty="0"/>
          </a:p>
        </p:txBody>
      </p:sp>
      <p:sp>
        <p:nvSpPr>
          <p:cNvPr id="25" name="Shape 23"/>
          <p:cNvSpPr/>
          <p:nvPr/>
        </p:nvSpPr>
        <p:spPr>
          <a:xfrm>
            <a:off x="9601200" y="3108960"/>
            <a:ext cx="2148840" cy="777240"/>
          </a:xfrm>
          <a:prstGeom prst="roundRect">
            <a:avLst>
              <a:gd name="adj" fmla="val 9412"/>
            </a:avLst>
          </a:prstGeom>
          <a:solidFill>
            <a:srgbClr val="0F1730"/>
          </a:solidFill>
          <a:ln w="12700">
            <a:solidFill>
              <a:srgbClr val="1F2A48"/>
            </a:solidFill>
            <a:prstDash val="solid"/>
          </a:ln>
        </p:spPr>
      </p:sp>
      <p:sp>
        <p:nvSpPr>
          <p:cNvPr id="26" name="Shape 24"/>
          <p:cNvSpPr/>
          <p:nvPr/>
        </p:nvSpPr>
        <p:spPr>
          <a:xfrm>
            <a:off x="9601200" y="3108960"/>
            <a:ext cx="54864" cy="777240"/>
          </a:xfrm>
          <a:prstGeom prst="rect">
            <a:avLst/>
          </a:prstGeom>
          <a:solidFill>
            <a:srgbClr val="2563EB"/>
          </a:solidFill>
          <a:ln w="12700">
            <a:solidFill>
              <a:srgbClr val="2563EB"/>
            </a:solidFill>
            <a:prstDash val="solid"/>
          </a:ln>
        </p:spPr>
      </p:sp>
      <p:sp>
        <p:nvSpPr>
          <p:cNvPr id="27" name="Text 25"/>
          <p:cNvSpPr/>
          <p:nvPr/>
        </p:nvSpPr>
        <p:spPr>
          <a:xfrm>
            <a:off x="9784080" y="3108960"/>
            <a:ext cx="1874520" cy="7772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MessageBird</a:t>
            </a:r>
            <a:endParaRPr lang="en-US" sz="1300" dirty="0"/>
          </a:p>
        </p:txBody>
      </p:sp>
      <p:sp>
        <p:nvSpPr>
          <p:cNvPr id="28" name="Text 26"/>
          <p:cNvSpPr/>
          <p:nvPr/>
        </p:nvSpPr>
        <p:spPr>
          <a:xfrm>
            <a:off x="457200" y="4160520"/>
            <a:ext cx="1371600" cy="274320"/>
          </a:xfrm>
          <a:prstGeom prst="rect">
            <a:avLst/>
          </a:prstGeom>
          <a:noFill/>
          <a:ln/>
        </p:spPr>
        <p:txBody>
          <a:bodyPr wrap="square"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SMS</a:t>
            </a:r>
            <a:endParaRPr lang="en-US" sz="1100" dirty="0"/>
          </a:p>
        </p:txBody>
      </p:sp>
      <p:sp>
        <p:nvSpPr>
          <p:cNvPr id="29" name="Shape 27"/>
          <p:cNvSpPr/>
          <p:nvPr/>
        </p:nvSpPr>
        <p:spPr>
          <a:xfrm>
            <a:off x="457200" y="4480560"/>
            <a:ext cx="3611880" cy="777240"/>
          </a:xfrm>
          <a:prstGeom prst="roundRect">
            <a:avLst>
              <a:gd name="adj" fmla="val 9412"/>
            </a:avLst>
          </a:prstGeom>
          <a:solidFill>
            <a:srgbClr val="0F1730"/>
          </a:solidFill>
          <a:ln w="12700">
            <a:solidFill>
              <a:srgbClr val="1F2A48"/>
            </a:solidFill>
            <a:prstDash val="solid"/>
          </a:ln>
        </p:spPr>
      </p:sp>
      <p:sp>
        <p:nvSpPr>
          <p:cNvPr id="30" name="Shape 28"/>
          <p:cNvSpPr/>
          <p:nvPr/>
        </p:nvSpPr>
        <p:spPr>
          <a:xfrm>
            <a:off x="457200" y="4480560"/>
            <a:ext cx="54864" cy="777240"/>
          </a:xfrm>
          <a:prstGeom prst="rect">
            <a:avLst/>
          </a:prstGeom>
          <a:solidFill>
            <a:srgbClr val="22D3EE"/>
          </a:solidFill>
          <a:ln w="12700">
            <a:solidFill>
              <a:srgbClr val="22D3EE"/>
            </a:solidFill>
            <a:prstDash val="solid"/>
          </a:ln>
        </p:spPr>
      </p:sp>
      <p:sp>
        <p:nvSpPr>
          <p:cNvPr id="31" name="Text 29"/>
          <p:cNvSpPr/>
          <p:nvPr/>
        </p:nvSpPr>
        <p:spPr>
          <a:xfrm>
            <a:off x="640080" y="4480560"/>
            <a:ext cx="3383280" cy="77724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Twilio (shipped)</a:t>
            </a:r>
            <a:endParaRPr lang="en-US" sz="1400" dirty="0"/>
          </a:p>
        </p:txBody>
      </p:sp>
      <p:sp>
        <p:nvSpPr>
          <p:cNvPr id="32" name="Shape 30"/>
          <p:cNvSpPr/>
          <p:nvPr/>
        </p:nvSpPr>
        <p:spPr>
          <a:xfrm>
            <a:off x="4206240" y="4480560"/>
            <a:ext cx="3611880" cy="777240"/>
          </a:xfrm>
          <a:prstGeom prst="roundRect">
            <a:avLst>
              <a:gd name="adj" fmla="val 9412"/>
            </a:avLst>
          </a:prstGeom>
          <a:solidFill>
            <a:srgbClr val="0F1730"/>
          </a:solidFill>
          <a:ln w="12700">
            <a:solidFill>
              <a:srgbClr val="1F2A48"/>
            </a:solidFill>
            <a:prstDash val="solid"/>
          </a:ln>
        </p:spPr>
      </p:sp>
      <p:sp>
        <p:nvSpPr>
          <p:cNvPr id="33" name="Shape 31"/>
          <p:cNvSpPr/>
          <p:nvPr/>
        </p:nvSpPr>
        <p:spPr>
          <a:xfrm>
            <a:off x="4206240" y="4480560"/>
            <a:ext cx="54864" cy="777240"/>
          </a:xfrm>
          <a:prstGeom prst="rect">
            <a:avLst/>
          </a:prstGeom>
          <a:solidFill>
            <a:srgbClr val="8B95AD"/>
          </a:solidFill>
          <a:ln w="12700">
            <a:solidFill>
              <a:srgbClr val="8B95AD"/>
            </a:solidFill>
            <a:prstDash val="solid"/>
          </a:ln>
        </p:spPr>
      </p:sp>
      <p:sp>
        <p:nvSpPr>
          <p:cNvPr id="34" name="Text 32"/>
          <p:cNvSpPr/>
          <p:nvPr/>
        </p:nvSpPr>
        <p:spPr>
          <a:xfrm>
            <a:off x="4389120" y="4480560"/>
            <a:ext cx="3383280" cy="777240"/>
          </a:xfrm>
          <a:prstGeom prst="rect">
            <a:avLst/>
          </a:prstGeom>
          <a:noFill/>
          <a:ln/>
        </p:spPr>
        <p:txBody>
          <a:bodyPr wrap="square" rtlCol="0" anchor="ctr"/>
          <a:lstStyle/>
          <a:p>
            <a:pPr indent="0" marL="0">
              <a:buNone/>
            </a:pPr>
            <a:r>
              <a:rPr lang="en-US" sz="1400" b="1" dirty="0">
                <a:solidFill>
                  <a:srgbClr val="D8DEE9"/>
                </a:solidFill>
                <a:latin typeface="Calibri" pitchFamily="34" charset="0"/>
                <a:ea typeface="Calibri" pitchFamily="34" charset="-122"/>
                <a:cs typeface="Calibri" pitchFamily="34" charset="-120"/>
              </a:rPr>
              <a:t>MessageBird (planned)</a:t>
            </a:r>
            <a:endParaRPr lang="en-US" sz="1400" dirty="0"/>
          </a:p>
        </p:txBody>
      </p:sp>
      <p:sp>
        <p:nvSpPr>
          <p:cNvPr id="35" name="Shape 33"/>
          <p:cNvSpPr/>
          <p:nvPr/>
        </p:nvSpPr>
        <p:spPr>
          <a:xfrm>
            <a:off x="7955280" y="4480560"/>
            <a:ext cx="3611880" cy="777240"/>
          </a:xfrm>
          <a:prstGeom prst="roundRect">
            <a:avLst>
              <a:gd name="adj" fmla="val 9412"/>
            </a:avLst>
          </a:prstGeom>
          <a:solidFill>
            <a:srgbClr val="0F1730"/>
          </a:solidFill>
          <a:ln w="12700">
            <a:solidFill>
              <a:srgbClr val="1F2A48"/>
            </a:solidFill>
            <a:prstDash val="solid"/>
          </a:ln>
        </p:spPr>
      </p:sp>
      <p:sp>
        <p:nvSpPr>
          <p:cNvPr id="36" name="Shape 34"/>
          <p:cNvSpPr/>
          <p:nvPr/>
        </p:nvSpPr>
        <p:spPr>
          <a:xfrm>
            <a:off x="7955280" y="4480560"/>
            <a:ext cx="54864" cy="777240"/>
          </a:xfrm>
          <a:prstGeom prst="rect">
            <a:avLst/>
          </a:prstGeom>
          <a:solidFill>
            <a:srgbClr val="8B95AD"/>
          </a:solidFill>
          <a:ln w="12700">
            <a:solidFill>
              <a:srgbClr val="8B95AD"/>
            </a:solidFill>
            <a:prstDash val="solid"/>
          </a:ln>
        </p:spPr>
      </p:sp>
      <p:sp>
        <p:nvSpPr>
          <p:cNvPr id="37" name="Text 35"/>
          <p:cNvSpPr/>
          <p:nvPr/>
        </p:nvSpPr>
        <p:spPr>
          <a:xfrm>
            <a:off x="8138160" y="4480560"/>
            <a:ext cx="3383280" cy="777240"/>
          </a:xfrm>
          <a:prstGeom prst="rect">
            <a:avLst/>
          </a:prstGeom>
          <a:noFill/>
          <a:ln/>
        </p:spPr>
        <p:txBody>
          <a:bodyPr wrap="square" rtlCol="0" anchor="ctr"/>
          <a:lstStyle/>
          <a:p>
            <a:pPr indent="0" marL="0">
              <a:buNone/>
            </a:pPr>
            <a:r>
              <a:rPr lang="en-US" sz="1400" b="1" dirty="0">
                <a:solidFill>
                  <a:srgbClr val="D8DEE9"/>
                </a:solidFill>
                <a:latin typeface="Calibri" pitchFamily="34" charset="0"/>
                <a:ea typeface="Calibri" pitchFamily="34" charset="-122"/>
                <a:cs typeface="Calibri" pitchFamily="34" charset="-120"/>
              </a:rPr>
              <a:t>AWS SNS (planned)</a:t>
            </a:r>
            <a:endParaRPr lang="en-US" sz="1400" dirty="0"/>
          </a:p>
        </p:txBody>
      </p:sp>
      <p:sp>
        <p:nvSpPr>
          <p:cNvPr id="38" name="Text 36"/>
          <p:cNvSpPr/>
          <p:nvPr/>
        </p:nvSpPr>
        <p:spPr>
          <a:xfrm>
            <a:off x="457200" y="5532120"/>
            <a:ext cx="1828800" cy="274320"/>
          </a:xfrm>
          <a:prstGeom prst="rect">
            <a:avLst/>
          </a:prstGeom>
          <a:noFill/>
          <a:ln/>
        </p:spPr>
        <p:txBody>
          <a:bodyPr wrap="square"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BOT DEFENSE</a:t>
            </a:r>
            <a:endParaRPr lang="en-US" sz="1100" dirty="0"/>
          </a:p>
        </p:txBody>
      </p:sp>
      <p:sp>
        <p:nvSpPr>
          <p:cNvPr id="39" name="Shape 37"/>
          <p:cNvSpPr/>
          <p:nvPr/>
        </p:nvSpPr>
        <p:spPr>
          <a:xfrm>
            <a:off x="457200" y="5852160"/>
            <a:ext cx="3611880" cy="548640"/>
          </a:xfrm>
          <a:prstGeom prst="roundRect">
            <a:avLst>
              <a:gd name="adj" fmla="val 13333"/>
            </a:avLst>
          </a:prstGeom>
          <a:solidFill>
            <a:srgbClr val="0F1730"/>
          </a:solidFill>
          <a:ln w="12700">
            <a:solidFill>
              <a:srgbClr val="1F2A48"/>
            </a:solidFill>
            <a:prstDash val="solid"/>
          </a:ln>
        </p:spPr>
      </p:sp>
      <p:sp>
        <p:nvSpPr>
          <p:cNvPr id="40" name="Shape 38"/>
          <p:cNvSpPr/>
          <p:nvPr/>
        </p:nvSpPr>
        <p:spPr>
          <a:xfrm>
            <a:off x="457200" y="5852160"/>
            <a:ext cx="54864" cy="548640"/>
          </a:xfrm>
          <a:prstGeom prst="rect">
            <a:avLst/>
          </a:prstGeom>
          <a:solidFill>
            <a:srgbClr val="F472B6"/>
          </a:solidFill>
          <a:ln w="12700">
            <a:solidFill>
              <a:srgbClr val="F472B6"/>
            </a:solidFill>
            <a:prstDash val="solid"/>
          </a:ln>
        </p:spPr>
      </p:sp>
      <p:sp>
        <p:nvSpPr>
          <p:cNvPr id="41" name="Text 39"/>
          <p:cNvSpPr/>
          <p:nvPr/>
        </p:nvSpPr>
        <p:spPr>
          <a:xfrm>
            <a:off x="640080" y="5852160"/>
            <a:ext cx="3383280" cy="5486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Cloudflare Turnstile</a:t>
            </a:r>
            <a:endParaRPr lang="en-US" sz="1300" dirty="0"/>
          </a:p>
        </p:txBody>
      </p:sp>
      <p:sp>
        <p:nvSpPr>
          <p:cNvPr id="42" name="Shape 40"/>
          <p:cNvSpPr/>
          <p:nvPr/>
        </p:nvSpPr>
        <p:spPr>
          <a:xfrm>
            <a:off x="4206240" y="5852160"/>
            <a:ext cx="3611880" cy="548640"/>
          </a:xfrm>
          <a:prstGeom prst="roundRect">
            <a:avLst>
              <a:gd name="adj" fmla="val 13333"/>
            </a:avLst>
          </a:prstGeom>
          <a:solidFill>
            <a:srgbClr val="0F1730"/>
          </a:solidFill>
          <a:ln w="12700">
            <a:solidFill>
              <a:srgbClr val="1F2A48"/>
            </a:solidFill>
            <a:prstDash val="solid"/>
          </a:ln>
        </p:spPr>
      </p:sp>
      <p:sp>
        <p:nvSpPr>
          <p:cNvPr id="43" name="Shape 41"/>
          <p:cNvSpPr/>
          <p:nvPr/>
        </p:nvSpPr>
        <p:spPr>
          <a:xfrm>
            <a:off x="4206240" y="5852160"/>
            <a:ext cx="54864" cy="548640"/>
          </a:xfrm>
          <a:prstGeom prst="rect">
            <a:avLst/>
          </a:prstGeom>
          <a:solidFill>
            <a:srgbClr val="F472B6"/>
          </a:solidFill>
          <a:ln w="12700">
            <a:solidFill>
              <a:srgbClr val="F472B6"/>
            </a:solidFill>
            <a:prstDash val="solid"/>
          </a:ln>
        </p:spPr>
      </p:sp>
      <p:sp>
        <p:nvSpPr>
          <p:cNvPr id="44" name="Text 42"/>
          <p:cNvSpPr/>
          <p:nvPr/>
        </p:nvSpPr>
        <p:spPr>
          <a:xfrm>
            <a:off x="4389120" y="5852160"/>
            <a:ext cx="3383280" cy="548640"/>
          </a:xfrm>
          <a:prstGeom prst="rect">
            <a:avLst/>
          </a:prstGeom>
          <a:noFill/>
          <a:ln/>
        </p:spPr>
        <p:txBody>
          <a:bodyPr wrap="square" rtlCol="0" anchor="ctr"/>
          <a:lstStyle/>
          <a:p>
            <a:pPr indent="0" marL="0">
              <a:buNone/>
            </a:pPr>
            <a:r>
              <a:rPr lang="en-US" sz="1300" b="1" dirty="0">
                <a:solidFill>
                  <a:srgbClr val="F5F7FA"/>
                </a:solidFill>
                <a:latin typeface="Calibri" pitchFamily="34" charset="0"/>
                <a:ea typeface="Calibri" pitchFamily="34" charset="-122"/>
                <a:cs typeface="Calibri" pitchFamily="34" charset="-120"/>
              </a:rPr>
              <a:t>hCaptcha</a:t>
            </a:r>
            <a:endParaRPr lang="en-US" sz="1300" dirty="0"/>
          </a:p>
        </p:txBody>
      </p:sp>
      <p:sp>
        <p:nvSpPr>
          <p:cNvPr id="45" name="Shape 43"/>
          <p:cNvSpPr/>
          <p:nvPr/>
        </p:nvSpPr>
        <p:spPr>
          <a:xfrm>
            <a:off x="7955280" y="5852160"/>
            <a:ext cx="3611880" cy="548640"/>
          </a:xfrm>
          <a:prstGeom prst="roundRect">
            <a:avLst>
              <a:gd name="adj" fmla="val 13333"/>
            </a:avLst>
          </a:prstGeom>
          <a:solidFill>
            <a:srgbClr val="0F1730"/>
          </a:solidFill>
          <a:ln w="12700">
            <a:solidFill>
              <a:srgbClr val="1F2A48"/>
            </a:solidFill>
            <a:prstDash val="solid"/>
          </a:ln>
        </p:spPr>
      </p:sp>
      <p:sp>
        <p:nvSpPr>
          <p:cNvPr id="46" name="Shape 44"/>
          <p:cNvSpPr/>
          <p:nvPr/>
        </p:nvSpPr>
        <p:spPr>
          <a:xfrm>
            <a:off x="7955280" y="5852160"/>
            <a:ext cx="54864" cy="548640"/>
          </a:xfrm>
          <a:prstGeom prst="rect">
            <a:avLst/>
          </a:prstGeom>
          <a:solidFill>
            <a:srgbClr val="22D3EE"/>
          </a:solidFill>
          <a:ln w="12700">
            <a:solidFill>
              <a:srgbClr val="22D3EE"/>
            </a:solidFill>
            <a:prstDash val="solid"/>
          </a:ln>
        </p:spPr>
      </p:sp>
      <p:sp>
        <p:nvSpPr>
          <p:cNvPr id="47" name="Text 45"/>
          <p:cNvSpPr/>
          <p:nvPr/>
        </p:nvSpPr>
        <p:spPr>
          <a:xfrm>
            <a:off x="8138160" y="5852160"/>
            <a:ext cx="3383280" cy="548640"/>
          </a:xfrm>
          <a:prstGeom prst="rect">
            <a:avLst/>
          </a:prstGeom>
          <a:noFill/>
          <a:ln/>
        </p:spPr>
        <p:txBody>
          <a:bodyPr wrap="square" rtlCol="0" anchor="ctr"/>
          <a:lstStyle/>
          <a:p>
            <a:pPr indent="0" marL="0">
              <a:buNone/>
            </a:pPr>
            <a:r>
              <a:rPr lang="en-US" sz="1300" b="1" i="1" dirty="0">
                <a:solidFill>
                  <a:srgbClr val="D8DEE9"/>
                </a:solidFill>
                <a:latin typeface="Calibri" pitchFamily="34" charset="0"/>
                <a:ea typeface="Calibri" pitchFamily="34" charset="-122"/>
                <a:cs typeface="Calibri" pitchFamily="34" charset="-120"/>
              </a:rPr>
              <a:t>Custom IRiskSignalProvider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10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SECURITY MODEL</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Built for an audit, not a demo.</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Defaults that match the OWASP passwordless cheat sheet — and shipping defaults that don't leak.</a:t>
            </a:r>
            <a:endParaRPr lang="en-US" sz="1500" dirty="0"/>
          </a:p>
        </p:txBody>
      </p:sp>
      <p:sp>
        <p:nvSpPr>
          <p:cNvPr id="12" name="Shape 10"/>
          <p:cNvSpPr/>
          <p:nvPr/>
        </p:nvSpPr>
        <p:spPr>
          <a:xfrm>
            <a:off x="457200" y="2743200"/>
            <a:ext cx="3611880" cy="1600200"/>
          </a:xfrm>
          <a:prstGeom prst="rect">
            <a:avLst/>
          </a:prstGeom>
          <a:solidFill>
            <a:srgbClr val="0F1730"/>
          </a:solidFill>
          <a:ln w="12700">
            <a:solidFill>
              <a:srgbClr val="1F2A48"/>
            </a:solidFill>
            <a:prstDash val="solid"/>
          </a:ln>
        </p:spPr>
      </p:sp>
      <p:sp>
        <p:nvSpPr>
          <p:cNvPr id="13" name="Shape 11"/>
          <p:cNvSpPr/>
          <p:nvPr/>
        </p:nvSpPr>
        <p:spPr>
          <a:xfrm>
            <a:off x="457200" y="2743200"/>
            <a:ext cx="3611880" cy="54864"/>
          </a:xfrm>
          <a:prstGeom prst="rect">
            <a:avLst/>
          </a:prstGeom>
          <a:solidFill>
            <a:srgbClr val="10B981"/>
          </a:solidFill>
          <a:ln w="12700">
            <a:solidFill>
              <a:srgbClr val="10B981"/>
            </a:solidFill>
            <a:prstDash val="solid"/>
          </a:ln>
        </p:spPr>
      </p:sp>
      <p:sp>
        <p:nvSpPr>
          <p:cNvPr id="14" name="Text 12"/>
          <p:cNvSpPr/>
          <p:nvPr/>
        </p:nvSpPr>
        <p:spPr>
          <a:xfrm>
            <a:off x="685800" y="2971800"/>
            <a:ext cx="320040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Hashed tokens</a:t>
            </a:r>
            <a:endParaRPr lang="en-US" sz="1400" dirty="0"/>
          </a:p>
        </p:txBody>
      </p:sp>
      <p:sp>
        <p:nvSpPr>
          <p:cNvPr id="15" name="Text 13"/>
          <p:cNvSpPr/>
          <p:nvPr/>
        </p:nvSpPr>
        <p:spPr>
          <a:xfrm>
            <a:off x="685800" y="3429000"/>
            <a:ext cx="3200400" cy="868680"/>
          </a:xfrm>
          <a:prstGeom prst="rect">
            <a:avLst/>
          </a:prstGeom>
          <a:noFill/>
          <a:ln/>
        </p:spPr>
        <p:txBody>
          <a:bodyPr wrap="square" rtlCol="0" anchor="t"/>
          <a:lstStyle/>
          <a:p>
            <a:pPr indent="0" marL="0">
              <a:buNone/>
            </a:pPr>
            <a:r>
              <a:rPr lang="en-US" sz="1100" dirty="0">
                <a:solidFill>
                  <a:srgbClr val="D8DEE9"/>
                </a:solidFill>
                <a:latin typeface="Calibri" pitchFamily="34" charset="0"/>
                <a:ea typeface="Calibri" pitchFamily="34" charset="-122"/>
                <a:cs typeface="Calibri" pitchFamily="34" charset="-120"/>
              </a:rPr>
              <a:t>HMAC-SHA256 with a per-instance pepper. Raw tokens never persisted.</a:t>
            </a:r>
            <a:endParaRPr lang="en-US" sz="1100" dirty="0"/>
          </a:p>
        </p:txBody>
      </p:sp>
      <p:sp>
        <p:nvSpPr>
          <p:cNvPr id="16" name="Shape 14"/>
          <p:cNvSpPr/>
          <p:nvPr/>
        </p:nvSpPr>
        <p:spPr>
          <a:xfrm>
            <a:off x="4251960" y="2743200"/>
            <a:ext cx="3611880" cy="1600200"/>
          </a:xfrm>
          <a:prstGeom prst="rect">
            <a:avLst/>
          </a:prstGeom>
          <a:solidFill>
            <a:srgbClr val="0F1730"/>
          </a:solidFill>
          <a:ln w="12700">
            <a:solidFill>
              <a:srgbClr val="1F2A48"/>
            </a:solidFill>
            <a:prstDash val="solid"/>
          </a:ln>
        </p:spPr>
      </p:sp>
      <p:sp>
        <p:nvSpPr>
          <p:cNvPr id="17" name="Shape 15"/>
          <p:cNvSpPr/>
          <p:nvPr/>
        </p:nvSpPr>
        <p:spPr>
          <a:xfrm>
            <a:off x="4251960" y="2743200"/>
            <a:ext cx="3611880" cy="54864"/>
          </a:xfrm>
          <a:prstGeom prst="rect">
            <a:avLst/>
          </a:prstGeom>
          <a:solidFill>
            <a:srgbClr val="10B981"/>
          </a:solidFill>
          <a:ln w="12700">
            <a:solidFill>
              <a:srgbClr val="10B981"/>
            </a:solidFill>
            <a:prstDash val="solid"/>
          </a:ln>
        </p:spPr>
      </p:sp>
      <p:sp>
        <p:nvSpPr>
          <p:cNvPr id="18" name="Text 16"/>
          <p:cNvSpPr/>
          <p:nvPr/>
        </p:nvSpPr>
        <p:spPr>
          <a:xfrm>
            <a:off x="4480560" y="2971800"/>
            <a:ext cx="320040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Constant-time compare</a:t>
            </a:r>
            <a:endParaRPr lang="en-US" sz="1400" dirty="0"/>
          </a:p>
        </p:txBody>
      </p:sp>
      <p:sp>
        <p:nvSpPr>
          <p:cNvPr id="19" name="Text 17"/>
          <p:cNvSpPr/>
          <p:nvPr/>
        </p:nvSpPr>
        <p:spPr>
          <a:xfrm>
            <a:off x="4480560" y="3429000"/>
            <a:ext cx="3200400" cy="868680"/>
          </a:xfrm>
          <a:prstGeom prst="rect">
            <a:avLst/>
          </a:prstGeom>
          <a:noFill/>
          <a:ln/>
        </p:spPr>
        <p:txBody>
          <a:bodyPr wrap="square" rtlCol="0" anchor="t"/>
          <a:lstStyle/>
          <a:p>
            <a:pPr indent="0" marL="0">
              <a:buNone/>
            </a:pPr>
            <a:r>
              <a:rPr lang="en-US" sz="1100" dirty="0">
                <a:solidFill>
                  <a:srgbClr val="D8DEE9"/>
                </a:solidFill>
                <a:latin typeface="Calibri" pitchFamily="34" charset="0"/>
                <a:ea typeface="Calibri" pitchFamily="34" charset="-122"/>
                <a:cs typeface="Calibri" pitchFamily="34" charset="-120"/>
              </a:rPr>
              <a:t>CryptographicOperations.FixedTimeEquals on every redemption.</a:t>
            </a:r>
            <a:endParaRPr lang="en-US" sz="1100" dirty="0"/>
          </a:p>
        </p:txBody>
      </p:sp>
      <p:sp>
        <p:nvSpPr>
          <p:cNvPr id="20" name="Shape 18"/>
          <p:cNvSpPr/>
          <p:nvPr/>
        </p:nvSpPr>
        <p:spPr>
          <a:xfrm>
            <a:off x="8046720" y="2743200"/>
            <a:ext cx="3611880" cy="1600200"/>
          </a:xfrm>
          <a:prstGeom prst="rect">
            <a:avLst/>
          </a:prstGeom>
          <a:solidFill>
            <a:srgbClr val="0F1730"/>
          </a:solidFill>
          <a:ln w="12700">
            <a:solidFill>
              <a:srgbClr val="1F2A48"/>
            </a:solidFill>
            <a:prstDash val="solid"/>
          </a:ln>
        </p:spPr>
      </p:sp>
      <p:sp>
        <p:nvSpPr>
          <p:cNvPr id="21" name="Shape 19"/>
          <p:cNvSpPr/>
          <p:nvPr/>
        </p:nvSpPr>
        <p:spPr>
          <a:xfrm>
            <a:off x="8046720" y="2743200"/>
            <a:ext cx="3611880" cy="54864"/>
          </a:xfrm>
          <a:prstGeom prst="rect">
            <a:avLst/>
          </a:prstGeom>
          <a:solidFill>
            <a:srgbClr val="10B981"/>
          </a:solidFill>
          <a:ln w="12700">
            <a:solidFill>
              <a:srgbClr val="10B981"/>
            </a:solidFill>
            <a:prstDash val="solid"/>
          </a:ln>
        </p:spPr>
      </p:sp>
      <p:sp>
        <p:nvSpPr>
          <p:cNvPr id="22" name="Text 20"/>
          <p:cNvSpPr/>
          <p:nvPr/>
        </p:nvSpPr>
        <p:spPr>
          <a:xfrm>
            <a:off x="8275320" y="2971800"/>
            <a:ext cx="320040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Single-use redemption</a:t>
            </a:r>
            <a:endParaRPr lang="en-US" sz="1400" dirty="0"/>
          </a:p>
        </p:txBody>
      </p:sp>
      <p:sp>
        <p:nvSpPr>
          <p:cNvPr id="23" name="Text 21"/>
          <p:cNvSpPr/>
          <p:nvPr/>
        </p:nvSpPr>
        <p:spPr>
          <a:xfrm>
            <a:off x="8275320" y="3429000"/>
            <a:ext cx="3200400" cy="868680"/>
          </a:xfrm>
          <a:prstGeom prst="rect">
            <a:avLst/>
          </a:prstGeom>
          <a:noFill/>
          <a:ln/>
        </p:spPr>
        <p:txBody>
          <a:bodyPr wrap="square" rtlCol="0" anchor="t"/>
          <a:lstStyle/>
          <a:p>
            <a:pPr indent="0" marL="0">
              <a:buNone/>
            </a:pPr>
            <a:r>
              <a:rPr lang="en-US" sz="1100" dirty="0">
                <a:solidFill>
                  <a:srgbClr val="D8DEE9"/>
                </a:solidFill>
                <a:latin typeface="Calibri" pitchFamily="34" charset="0"/>
                <a:ea typeface="Calibri" pitchFamily="34" charset="-122"/>
                <a:cs typeface="Calibri" pitchFamily="34" charset="-120"/>
              </a:rPr>
              <a:t>Magic links and OTPs are atomically consumed on success.</a:t>
            </a:r>
            <a:endParaRPr lang="en-US" sz="1100" dirty="0"/>
          </a:p>
        </p:txBody>
      </p:sp>
      <p:sp>
        <p:nvSpPr>
          <p:cNvPr id="24" name="Shape 22"/>
          <p:cNvSpPr/>
          <p:nvPr/>
        </p:nvSpPr>
        <p:spPr>
          <a:xfrm>
            <a:off x="457200" y="4480560"/>
            <a:ext cx="3611880" cy="1600200"/>
          </a:xfrm>
          <a:prstGeom prst="rect">
            <a:avLst/>
          </a:prstGeom>
          <a:solidFill>
            <a:srgbClr val="0F1730"/>
          </a:solidFill>
          <a:ln w="12700">
            <a:solidFill>
              <a:srgbClr val="1F2A48"/>
            </a:solidFill>
            <a:prstDash val="solid"/>
          </a:ln>
        </p:spPr>
      </p:sp>
      <p:sp>
        <p:nvSpPr>
          <p:cNvPr id="25" name="Shape 23"/>
          <p:cNvSpPr/>
          <p:nvPr/>
        </p:nvSpPr>
        <p:spPr>
          <a:xfrm>
            <a:off x="457200" y="4480560"/>
            <a:ext cx="3611880" cy="54864"/>
          </a:xfrm>
          <a:prstGeom prst="rect">
            <a:avLst/>
          </a:prstGeom>
          <a:solidFill>
            <a:srgbClr val="10B981"/>
          </a:solidFill>
          <a:ln w="12700">
            <a:solidFill>
              <a:srgbClr val="10B981"/>
            </a:solidFill>
            <a:prstDash val="solid"/>
          </a:ln>
        </p:spPr>
      </p:sp>
      <p:sp>
        <p:nvSpPr>
          <p:cNvPr id="26" name="Text 24"/>
          <p:cNvSpPr/>
          <p:nvPr/>
        </p:nvSpPr>
        <p:spPr>
          <a:xfrm>
            <a:off x="685800" y="4709160"/>
            <a:ext cx="320040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Rate limits everywhere</a:t>
            </a:r>
            <a:endParaRPr lang="en-US" sz="1400" dirty="0"/>
          </a:p>
        </p:txBody>
      </p:sp>
      <p:sp>
        <p:nvSpPr>
          <p:cNvPr id="27" name="Text 25"/>
          <p:cNvSpPr/>
          <p:nvPr/>
        </p:nvSpPr>
        <p:spPr>
          <a:xfrm>
            <a:off x="685800" y="5166360"/>
            <a:ext cx="3200400" cy="868680"/>
          </a:xfrm>
          <a:prstGeom prst="rect">
            <a:avLst/>
          </a:prstGeom>
          <a:noFill/>
          <a:ln/>
        </p:spPr>
        <p:txBody>
          <a:bodyPr wrap="square" rtlCol="0" anchor="t"/>
          <a:lstStyle/>
          <a:p>
            <a:pPr indent="0" marL="0">
              <a:buNone/>
            </a:pPr>
            <a:r>
              <a:rPr lang="en-US" sz="1100" dirty="0">
                <a:solidFill>
                  <a:srgbClr val="D8DEE9"/>
                </a:solidFill>
                <a:latin typeface="Calibri" pitchFamily="34" charset="0"/>
                <a:ea typeface="Calibri" pitchFamily="34" charset="-122"/>
                <a:cs typeface="Calibri" pitchFamily="34" charset="-120"/>
              </a:rPr>
              <a:t>Per-identifier on issue + verify; per-OTP attempt counter.</a:t>
            </a:r>
            <a:endParaRPr lang="en-US" sz="1100" dirty="0"/>
          </a:p>
        </p:txBody>
      </p:sp>
      <p:sp>
        <p:nvSpPr>
          <p:cNvPr id="28" name="Shape 26"/>
          <p:cNvSpPr/>
          <p:nvPr/>
        </p:nvSpPr>
        <p:spPr>
          <a:xfrm>
            <a:off x="4251960" y="4480560"/>
            <a:ext cx="3611880" cy="1600200"/>
          </a:xfrm>
          <a:prstGeom prst="rect">
            <a:avLst/>
          </a:prstGeom>
          <a:solidFill>
            <a:srgbClr val="0F1730"/>
          </a:solidFill>
          <a:ln w="12700">
            <a:solidFill>
              <a:srgbClr val="1F2A48"/>
            </a:solidFill>
            <a:prstDash val="solid"/>
          </a:ln>
        </p:spPr>
      </p:sp>
      <p:sp>
        <p:nvSpPr>
          <p:cNvPr id="29" name="Shape 27"/>
          <p:cNvSpPr/>
          <p:nvPr/>
        </p:nvSpPr>
        <p:spPr>
          <a:xfrm>
            <a:off x="4251960" y="4480560"/>
            <a:ext cx="3611880" cy="54864"/>
          </a:xfrm>
          <a:prstGeom prst="rect">
            <a:avLst/>
          </a:prstGeom>
          <a:solidFill>
            <a:srgbClr val="10B981"/>
          </a:solidFill>
          <a:ln w="12700">
            <a:solidFill>
              <a:srgbClr val="10B981"/>
            </a:solidFill>
            <a:prstDash val="solid"/>
          </a:ln>
        </p:spPr>
      </p:sp>
      <p:sp>
        <p:nvSpPr>
          <p:cNvPr id="30" name="Text 28"/>
          <p:cNvSpPr/>
          <p:nvPr/>
        </p:nvSpPr>
        <p:spPr>
          <a:xfrm>
            <a:off x="4480560" y="4709160"/>
            <a:ext cx="320040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No enumeration leak</a:t>
            </a:r>
            <a:endParaRPr lang="en-US" sz="1400" dirty="0"/>
          </a:p>
        </p:txBody>
      </p:sp>
      <p:sp>
        <p:nvSpPr>
          <p:cNvPr id="31" name="Text 29"/>
          <p:cNvSpPr/>
          <p:nvPr/>
        </p:nvSpPr>
        <p:spPr>
          <a:xfrm>
            <a:off x="4480560" y="5166360"/>
            <a:ext cx="3200400" cy="868680"/>
          </a:xfrm>
          <a:prstGeom prst="rect">
            <a:avLst/>
          </a:prstGeom>
          <a:noFill/>
          <a:ln/>
        </p:spPr>
        <p:txBody>
          <a:bodyPr wrap="square" rtlCol="0" anchor="t"/>
          <a:lstStyle/>
          <a:p>
            <a:pPr indent="0" marL="0">
              <a:buNone/>
            </a:pPr>
            <a:r>
              <a:rPr lang="en-US" sz="1100" dirty="0">
                <a:solidFill>
                  <a:srgbClr val="D8DEE9"/>
                </a:solidFill>
                <a:latin typeface="Calibri" pitchFamily="34" charset="0"/>
                <a:ea typeface="Calibri" pitchFamily="34" charset="-122"/>
                <a:cs typeface="Calibri" pitchFamily="34" charset="-120"/>
              </a:rPr>
              <a:t>Unknown emails / phones return the same redirect as known ones.</a:t>
            </a:r>
            <a:endParaRPr lang="en-US" sz="1100" dirty="0"/>
          </a:p>
        </p:txBody>
      </p:sp>
      <p:sp>
        <p:nvSpPr>
          <p:cNvPr id="32" name="Shape 30"/>
          <p:cNvSpPr/>
          <p:nvPr/>
        </p:nvSpPr>
        <p:spPr>
          <a:xfrm>
            <a:off x="8046720" y="4480560"/>
            <a:ext cx="3611880" cy="1600200"/>
          </a:xfrm>
          <a:prstGeom prst="rect">
            <a:avLst/>
          </a:prstGeom>
          <a:solidFill>
            <a:srgbClr val="0F1730"/>
          </a:solidFill>
          <a:ln w="12700">
            <a:solidFill>
              <a:srgbClr val="1F2A48"/>
            </a:solidFill>
            <a:prstDash val="solid"/>
          </a:ln>
        </p:spPr>
      </p:sp>
      <p:sp>
        <p:nvSpPr>
          <p:cNvPr id="33" name="Shape 31"/>
          <p:cNvSpPr/>
          <p:nvPr/>
        </p:nvSpPr>
        <p:spPr>
          <a:xfrm>
            <a:off x="8046720" y="4480560"/>
            <a:ext cx="3611880" cy="54864"/>
          </a:xfrm>
          <a:prstGeom prst="rect">
            <a:avLst/>
          </a:prstGeom>
          <a:solidFill>
            <a:srgbClr val="10B981"/>
          </a:solidFill>
          <a:ln w="12700">
            <a:solidFill>
              <a:srgbClr val="10B981"/>
            </a:solidFill>
            <a:prstDash val="solid"/>
          </a:ln>
        </p:spPr>
      </p:sp>
      <p:sp>
        <p:nvSpPr>
          <p:cNvPr id="34" name="Text 32"/>
          <p:cNvSpPr/>
          <p:nvPr/>
        </p:nvSpPr>
        <p:spPr>
          <a:xfrm>
            <a:off x="8275320" y="4709160"/>
            <a:ext cx="320040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Audit sink</a:t>
            </a:r>
            <a:endParaRPr lang="en-US" sz="1400" dirty="0"/>
          </a:p>
        </p:txBody>
      </p:sp>
      <p:sp>
        <p:nvSpPr>
          <p:cNvPr id="35" name="Text 33"/>
          <p:cNvSpPr/>
          <p:nvPr/>
        </p:nvSpPr>
        <p:spPr>
          <a:xfrm>
            <a:off x="8275320" y="5166360"/>
            <a:ext cx="3200400" cy="868680"/>
          </a:xfrm>
          <a:prstGeom prst="rect">
            <a:avLst/>
          </a:prstGeom>
          <a:noFill/>
          <a:ln/>
        </p:spPr>
        <p:txBody>
          <a:bodyPr wrap="square" rtlCol="0" anchor="t"/>
          <a:lstStyle/>
          <a:p>
            <a:pPr indent="0" marL="0">
              <a:buNone/>
            </a:pPr>
            <a:r>
              <a:rPr lang="en-US" sz="1100" dirty="0">
                <a:solidFill>
                  <a:srgbClr val="D8DEE9"/>
                </a:solidFill>
                <a:latin typeface="Calibri" pitchFamily="34" charset="0"/>
                <a:ea typeface="Calibri" pitchFamily="34" charset="-122"/>
                <a:cs typeface="Calibri" pitchFamily="34" charset="-120"/>
              </a:rPr>
              <a:t>Structured AuditEvent + EF-backed sink + admin dashboard query.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11 / 12</a:t>
            </a:r>
            <a:endParaRPr lang="en-US" sz="1000" dirty="0"/>
          </a:p>
        </p:txBody>
      </p:sp>
      <p:sp>
        <p:nvSpPr>
          <p:cNvPr id="9" name="Text 7"/>
          <p:cNvSpPr/>
          <p:nvPr/>
        </p:nvSpPr>
        <p:spPr>
          <a:xfrm>
            <a:off x="457200" y="822960"/>
            <a:ext cx="10972800" cy="27432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ROADMAP</a:t>
            </a:r>
            <a:endParaRPr lang="en-US" sz="1100" dirty="0"/>
          </a:p>
        </p:txBody>
      </p:sp>
      <p:sp>
        <p:nvSpPr>
          <p:cNvPr id="10" name="Text 8"/>
          <p:cNvSpPr/>
          <p:nvPr/>
        </p:nvSpPr>
        <p:spPr>
          <a:xfrm>
            <a:off x="457200" y="1097280"/>
            <a:ext cx="11247120" cy="1005840"/>
          </a:xfrm>
          <a:prstGeom prst="rect">
            <a:avLst/>
          </a:prstGeom>
          <a:noFill/>
          <a:ln/>
        </p:spPr>
        <p:txBody>
          <a:bodyPr wrap="square" rtlCol="0" anchor="t"/>
          <a:lstStyle/>
          <a:p>
            <a:pPr indent="0" marL="0">
              <a:buNone/>
            </a:pPr>
            <a:r>
              <a:rPr lang="en-US" sz="3600" b="1" dirty="0">
                <a:solidFill>
                  <a:srgbClr val="F5F7FA"/>
                </a:solidFill>
                <a:latin typeface="Calibri" pitchFamily="34" charset="0"/>
                <a:ea typeface="Calibri" pitchFamily="34" charset="-122"/>
                <a:cs typeface="Calibri" pitchFamily="34" charset="-120"/>
              </a:rPr>
              <a:t>What's next on the path to 1.0.</a:t>
            </a:r>
            <a:endParaRPr lang="en-US" sz="3600" dirty="0"/>
          </a:p>
        </p:txBody>
      </p:sp>
      <p:sp>
        <p:nvSpPr>
          <p:cNvPr id="11" name="Text 9"/>
          <p:cNvSpPr/>
          <p:nvPr/>
        </p:nvSpPr>
        <p:spPr>
          <a:xfrm>
            <a:off x="457200" y="2057400"/>
            <a:ext cx="11247120" cy="457200"/>
          </a:xfrm>
          <a:prstGeom prst="rect">
            <a:avLst/>
          </a:prstGeom>
          <a:noFill/>
          <a:ln/>
        </p:spPr>
        <p:txBody>
          <a:bodyPr wrap="square" rtlCol="0" anchor="t"/>
          <a:lstStyle/>
          <a:p>
            <a:pPr indent="0" marL="0">
              <a:buNone/>
            </a:pPr>
            <a:r>
              <a:rPr lang="en-US" sz="1500" dirty="0">
                <a:solidFill>
                  <a:srgbClr val="D8DEE9"/>
                </a:solidFill>
                <a:latin typeface="Calibri" pitchFamily="34" charset="0"/>
                <a:ea typeface="Calibri" pitchFamily="34" charset="-122"/>
                <a:cs typeface="Calibri" pitchFamily="34" charset="-120"/>
              </a:rPr>
              <a:t>v0.x today. Path to 1.0 is comprehensive tests, additional providers, and .NET Foundation incubation.</a:t>
            </a:r>
            <a:endParaRPr lang="en-US" sz="1500" dirty="0"/>
          </a:p>
        </p:txBody>
      </p:sp>
      <p:sp>
        <p:nvSpPr>
          <p:cNvPr id="12" name="Shape 10"/>
          <p:cNvSpPr/>
          <p:nvPr/>
        </p:nvSpPr>
        <p:spPr>
          <a:xfrm>
            <a:off x="457200" y="2743200"/>
            <a:ext cx="2697480" cy="3383280"/>
          </a:xfrm>
          <a:prstGeom prst="roundRect">
            <a:avLst>
              <a:gd name="adj" fmla="val 3390"/>
            </a:avLst>
          </a:prstGeom>
          <a:solidFill>
            <a:srgbClr val="0F1730"/>
          </a:solidFill>
          <a:ln w="12700">
            <a:solidFill>
              <a:srgbClr val="1F2A48"/>
            </a:solidFill>
            <a:prstDash val="solid"/>
          </a:ln>
        </p:spPr>
      </p:sp>
      <p:sp>
        <p:nvSpPr>
          <p:cNvPr id="13" name="Shape 11"/>
          <p:cNvSpPr/>
          <p:nvPr/>
        </p:nvSpPr>
        <p:spPr>
          <a:xfrm>
            <a:off x="685800" y="2971800"/>
            <a:ext cx="777240" cy="365760"/>
          </a:xfrm>
          <a:prstGeom prst="roundRect">
            <a:avLst>
              <a:gd name="adj" fmla="val 12500"/>
            </a:avLst>
          </a:prstGeom>
          <a:solidFill>
            <a:srgbClr val="22D3EE"/>
          </a:solidFill>
          <a:ln w="12700">
            <a:solidFill>
              <a:srgbClr val="22D3EE"/>
            </a:solidFill>
            <a:prstDash val="solid"/>
          </a:ln>
        </p:spPr>
      </p:sp>
      <p:sp>
        <p:nvSpPr>
          <p:cNvPr id="14" name="Text 12"/>
          <p:cNvSpPr/>
          <p:nvPr/>
        </p:nvSpPr>
        <p:spPr>
          <a:xfrm>
            <a:off x="685800" y="2971800"/>
            <a:ext cx="777240" cy="365760"/>
          </a:xfrm>
          <a:prstGeom prst="rect">
            <a:avLst/>
          </a:prstGeom>
          <a:noFill/>
          <a:ln/>
        </p:spPr>
        <p:txBody>
          <a:bodyPr wrap="square" rtlCol="0" anchor="ctr"/>
          <a:lstStyle/>
          <a:p>
            <a:pPr algn="ctr" indent="0" marL="0">
              <a:buNone/>
            </a:pPr>
            <a:r>
              <a:rPr lang="en-US" sz="1200" b="1" dirty="0">
                <a:solidFill>
                  <a:srgbClr val="0B1224"/>
                </a:solidFill>
                <a:latin typeface="Calibri" pitchFamily="34" charset="0"/>
                <a:ea typeface="Calibri" pitchFamily="34" charset="-122"/>
                <a:cs typeface="Calibri" pitchFamily="34" charset="-120"/>
              </a:rPr>
              <a:t>v0.5</a:t>
            </a:r>
            <a:endParaRPr lang="en-US" sz="1200" dirty="0"/>
          </a:p>
        </p:txBody>
      </p:sp>
      <p:sp>
        <p:nvSpPr>
          <p:cNvPr id="15" name="Text 13"/>
          <p:cNvSpPr/>
          <p:nvPr/>
        </p:nvSpPr>
        <p:spPr>
          <a:xfrm>
            <a:off x="1554480" y="2944368"/>
            <a:ext cx="155448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Today</a:t>
            </a:r>
            <a:endParaRPr lang="en-US" sz="1400" dirty="0"/>
          </a:p>
        </p:txBody>
      </p:sp>
      <p:sp>
        <p:nvSpPr>
          <p:cNvPr id="16" name="Shape 14"/>
          <p:cNvSpPr/>
          <p:nvPr/>
        </p:nvSpPr>
        <p:spPr>
          <a:xfrm>
            <a:off x="685800" y="3639312"/>
            <a:ext cx="109728" cy="109728"/>
          </a:xfrm>
          <a:prstGeom prst="rect">
            <a:avLst/>
          </a:prstGeom>
          <a:solidFill>
            <a:srgbClr val="22D3EE"/>
          </a:solidFill>
          <a:ln w="12700">
            <a:solidFill>
              <a:srgbClr val="22D3EE"/>
            </a:solidFill>
            <a:prstDash val="solid"/>
          </a:ln>
        </p:spPr>
      </p:sp>
      <p:sp>
        <p:nvSpPr>
          <p:cNvPr id="17" name="Text 15"/>
          <p:cNvSpPr/>
          <p:nvPr/>
        </p:nvSpPr>
        <p:spPr>
          <a:xfrm>
            <a:off x="868680" y="352044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5 passwordless methods</a:t>
            </a:r>
            <a:endParaRPr lang="en-US" sz="1050" dirty="0"/>
          </a:p>
        </p:txBody>
      </p:sp>
      <p:sp>
        <p:nvSpPr>
          <p:cNvPr id="18" name="Shape 16"/>
          <p:cNvSpPr/>
          <p:nvPr/>
        </p:nvSpPr>
        <p:spPr>
          <a:xfrm>
            <a:off x="685800" y="4142232"/>
            <a:ext cx="109728" cy="109728"/>
          </a:xfrm>
          <a:prstGeom prst="rect">
            <a:avLst/>
          </a:prstGeom>
          <a:solidFill>
            <a:srgbClr val="22D3EE"/>
          </a:solidFill>
          <a:ln w="12700">
            <a:solidFill>
              <a:srgbClr val="22D3EE"/>
            </a:solidFill>
            <a:prstDash val="solid"/>
          </a:ln>
        </p:spPr>
      </p:sp>
      <p:sp>
        <p:nvSpPr>
          <p:cNvPr id="19" name="Text 17"/>
          <p:cNvSpPr/>
          <p:nvPr/>
        </p:nvSpPr>
        <p:spPr>
          <a:xfrm>
            <a:off x="868680" y="402336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5 email + 1 SMS provider</a:t>
            </a:r>
            <a:endParaRPr lang="en-US" sz="1050" dirty="0"/>
          </a:p>
        </p:txBody>
      </p:sp>
      <p:sp>
        <p:nvSpPr>
          <p:cNvPr id="20" name="Shape 18"/>
          <p:cNvSpPr/>
          <p:nvPr/>
        </p:nvSpPr>
        <p:spPr>
          <a:xfrm>
            <a:off x="685800" y="4645152"/>
            <a:ext cx="109728" cy="109728"/>
          </a:xfrm>
          <a:prstGeom prst="rect">
            <a:avLst/>
          </a:prstGeom>
          <a:solidFill>
            <a:srgbClr val="22D3EE"/>
          </a:solidFill>
          <a:ln w="12700">
            <a:solidFill>
              <a:srgbClr val="22D3EE"/>
            </a:solidFill>
            <a:prstDash val="solid"/>
          </a:ln>
        </p:spPr>
      </p:sp>
      <p:sp>
        <p:nvSpPr>
          <p:cNvPr id="21" name="Text 19"/>
          <p:cNvSpPr/>
          <p:nvPr/>
        </p:nvSpPr>
        <p:spPr>
          <a:xfrm>
            <a:off x="868680" y="452628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Multi-tenant + Identity adapter</a:t>
            </a:r>
            <a:endParaRPr lang="en-US" sz="1050" dirty="0"/>
          </a:p>
        </p:txBody>
      </p:sp>
      <p:sp>
        <p:nvSpPr>
          <p:cNvPr id="22" name="Shape 20"/>
          <p:cNvSpPr/>
          <p:nvPr/>
        </p:nvSpPr>
        <p:spPr>
          <a:xfrm>
            <a:off x="685800" y="5148072"/>
            <a:ext cx="109728" cy="109728"/>
          </a:xfrm>
          <a:prstGeom prst="rect">
            <a:avLst/>
          </a:prstGeom>
          <a:solidFill>
            <a:srgbClr val="22D3EE"/>
          </a:solidFill>
          <a:ln w="12700">
            <a:solidFill>
              <a:srgbClr val="22D3EE"/>
            </a:solidFill>
            <a:prstDash val="solid"/>
          </a:ln>
        </p:spPr>
      </p:sp>
      <p:sp>
        <p:nvSpPr>
          <p:cNvPr id="23" name="Text 21"/>
          <p:cNvSpPr/>
          <p:nvPr/>
        </p:nvSpPr>
        <p:spPr>
          <a:xfrm>
            <a:off x="868680" y="502920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Razor Pages + Blazor UI</a:t>
            </a:r>
            <a:endParaRPr lang="en-US" sz="1050" dirty="0"/>
          </a:p>
        </p:txBody>
      </p:sp>
      <p:sp>
        <p:nvSpPr>
          <p:cNvPr id="24" name="Shape 22"/>
          <p:cNvSpPr/>
          <p:nvPr/>
        </p:nvSpPr>
        <p:spPr>
          <a:xfrm>
            <a:off x="685800" y="5650992"/>
            <a:ext cx="109728" cy="109728"/>
          </a:xfrm>
          <a:prstGeom prst="rect">
            <a:avLst/>
          </a:prstGeom>
          <a:solidFill>
            <a:srgbClr val="22D3EE"/>
          </a:solidFill>
          <a:ln w="12700">
            <a:solidFill>
              <a:srgbClr val="22D3EE"/>
            </a:solidFill>
            <a:prstDash val="solid"/>
          </a:ln>
        </p:spPr>
      </p:sp>
      <p:sp>
        <p:nvSpPr>
          <p:cNvPr id="25" name="Text 23"/>
          <p:cNvSpPr/>
          <p:nvPr/>
        </p:nvSpPr>
        <p:spPr>
          <a:xfrm>
            <a:off x="868680" y="553212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Turnstile + hCaptcha</a:t>
            </a:r>
            <a:endParaRPr lang="en-US" sz="1050" dirty="0"/>
          </a:p>
        </p:txBody>
      </p:sp>
      <p:sp>
        <p:nvSpPr>
          <p:cNvPr id="26" name="Shape 24"/>
          <p:cNvSpPr/>
          <p:nvPr/>
        </p:nvSpPr>
        <p:spPr>
          <a:xfrm>
            <a:off x="3291840" y="2743200"/>
            <a:ext cx="2697480" cy="3383280"/>
          </a:xfrm>
          <a:prstGeom prst="roundRect">
            <a:avLst>
              <a:gd name="adj" fmla="val 3390"/>
            </a:avLst>
          </a:prstGeom>
          <a:solidFill>
            <a:srgbClr val="0F1730"/>
          </a:solidFill>
          <a:ln w="12700">
            <a:solidFill>
              <a:srgbClr val="1F2A48"/>
            </a:solidFill>
            <a:prstDash val="solid"/>
          </a:ln>
        </p:spPr>
      </p:sp>
      <p:sp>
        <p:nvSpPr>
          <p:cNvPr id="27" name="Shape 25"/>
          <p:cNvSpPr/>
          <p:nvPr/>
        </p:nvSpPr>
        <p:spPr>
          <a:xfrm>
            <a:off x="3520440" y="2971800"/>
            <a:ext cx="777240" cy="365760"/>
          </a:xfrm>
          <a:prstGeom prst="roundRect">
            <a:avLst>
              <a:gd name="adj" fmla="val 12500"/>
            </a:avLst>
          </a:prstGeom>
          <a:solidFill>
            <a:srgbClr val="22D3EE"/>
          </a:solidFill>
          <a:ln w="12700">
            <a:solidFill>
              <a:srgbClr val="22D3EE"/>
            </a:solidFill>
            <a:prstDash val="solid"/>
          </a:ln>
        </p:spPr>
      </p:sp>
      <p:sp>
        <p:nvSpPr>
          <p:cNvPr id="28" name="Text 26"/>
          <p:cNvSpPr/>
          <p:nvPr/>
        </p:nvSpPr>
        <p:spPr>
          <a:xfrm>
            <a:off x="3520440" y="2971800"/>
            <a:ext cx="777240" cy="365760"/>
          </a:xfrm>
          <a:prstGeom prst="rect">
            <a:avLst/>
          </a:prstGeom>
          <a:noFill/>
          <a:ln/>
        </p:spPr>
        <p:txBody>
          <a:bodyPr wrap="square" rtlCol="0" anchor="ctr"/>
          <a:lstStyle/>
          <a:p>
            <a:pPr algn="ctr" indent="0" marL="0">
              <a:buNone/>
            </a:pPr>
            <a:r>
              <a:rPr lang="en-US" sz="1200" b="1" dirty="0">
                <a:solidFill>
                  <a:srgbClr val="0B1224"/>
                </a:solidFill>
                <a:latin typeface="Calibri" pitchFamily="34" charset="0"/>
                <a:ea typeface="Calibri" pitchFamily="34" charset="-122"/>
                <a:cs typeface="Calibri" pitchFamily="34" charset="-120"/>
              </a:rPr>
              <a:t>v0.6</a:t>
            </a:r>
            <a:endParaRPr lang="en-US" sz="1200" dirty="0"/>
          </a:p>
        </p:txBody>
      </p:sp>
      <p:sp>
        <p:nvSpPr>
          <p:cNvPr id="29" name="Text 27"/>
          <p:cNvSpPr/>
          <p:nvPr/>
        </p:nvSpPr>
        <p:spPr>
          <a:xfrm>
            <a:off x="4389120" y="2944368"/>
            <a:ext cx="155448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Next 4 weeks</a:t>
            </a:r>
            <a:endParaRPr lang="en-US" sz="1400" dirty="0"/>
          </a:p>
        </p:txBody>
      </p:sp>
      <p:sp>
        <p:nvSpPr>
          <p:cNvPr id="30" name="Shape 28"/>
          <p:cNvSpPr/>
          <p:nvPr/>
        </p:nvSpPr>
        <p:spPr>
          <a:xfrm>
            <a:off x="3520440" y="3639312"/>
            <a:ext cx="109728" cy="109728"/>
          </a:xfrm>
          <a:prstGeom prst="rect">
            <a:avLst/>
          </a:prstGeom>
          <a:solidFill>
            <a:srgbClr val="22D3EE"/>
          </a:solidFill>
          <a:ln w="12700">
            <a:solidFill>
              <a:srgbClr val="22D3EE"/>
            </a:solidFill>
            <a:prstDash val="solid"/>
          </a:ln>
        </p:spPr>
      </p:sp>
      <p:sp>
        <p:nvSpPr>
          <p:cNvPr id="31" name="Text 29"/>
          <p:cNvSpPr/>
          <p:nvPr/>
        </p:nvSpPr>
        <p:spPr>
          <a:xfrm>
            <a:off x="3703320" y="352044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Comprehensive test suite (120+)</a:t>
            </a:r>
            <a:endParaRPr lang="en-US" sz="1050" dirty="0"/>
          </a:p>
        </p:txBody>
      </p:sp>
      <p:sp>
        <p:nvSpPr>
          <p:cNvPr id="32" name="Shape 30"/>
          <p:cNvSpPr/>
          <p:nvPr/>
        </p:nvSpPr>
        <p:spPr>
          <a:xfrm>
            <a:off x="3520440" y="4142232"/>
            <a:ext cx="109728" cy="109728"/>
          </a:xfrm>
          <a:prstGeom prst="rect">
            <a:avLst/>
          </a:prstGeom>
          <a:solidFill>
            <a:srgbClr val="22D3EE"/>
          </a:solidFill>
          <a:ln w="12700">
            <a:solidFill>
              <a:srgbClr val="22D3EE"/>
            </a:solidFill>
            <a:prstDash val="solid"/>
          </a:ln>
        </p:spPr>
      </p:sp>
      <p:sp>
        <p:nvSpPr>
          <p:cNvPr id="33" name="Text 31"/>
          <p:cNvSpPr/>
          <p:nvPr/>
        </p:nvSpPr>
        <p:spPr>
          <a:xfrm>
            <a:off x="3703320" y="402336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MessageBird &amp; SNS SMS senders</a:t>
            </a:r>
            <a:endParaRPr lang="en-US" sz="1050" dirty="0"/>
          </a:p>
        </p:txBody>
      </p:sp>
      <p:sp>
        <p:nvSpPr>
          <p:cNvPr id="34" name="Shape 32"/>
          <p:cNvSpPr/>
          <p:nvPr/>
        </p:nvSpPr>
        <p:spPr>
          <a:xfrm>
            <a:off x="3520440" y="4645152"/>
            <a:ext cx="109728" cy="109728"/>
          </a:xfrm>
          <a:prstGeom prst="rect">
            <a:avLst/>
          </a:prstGeom>
          <a:solidFill>
            <a:srgbClr val="22D3EE"/>
          </a:solidFill>
          <a:ln w="12700">
            <a:solidFill>
              <a:srgbClr val="22D3EE"/>
            </a:solidFill>
            <a:prstDash val="solid"/>
          </a:ln>
        </p:spPr>
      </p:sp>
      <p:sp>
        <p:nvSpPr>
          <p:cNvPr id="35" name="Text 33"/>
          <p:cNvSpPr/>
          <p:nvPr/>
        </p:nvSpPr>
        <p:spPr>
          <a:xfrm>
            <a:off x="3703320" y="452628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More OTP styling options</a:t>
            </a:r>
            <a:endParaRPr lang="en-US" sz="1050" dirty="0"/>
          </a:p>
        </p:txBody>
      </p:sp>
      <p:sp>
        <p:nvSpPr>
          <p:cNvPr id="36" name="Shape 34"/>
          <p:cNvSpPr/>
          <p:nvPr/>
        </p:nvSpPr>
        <p:spPr>
          <a:xfrm>
            <a:off x="3520440" y="5148072"/>
            <a:ext cx="109728" cy="109728"/>
          </a:xfrm>
          <a:prstGeom prst="rect">
            <a:avLst/>
          </a:prstGeom>
          <a:solidFill>
            <a:srgbClr val="22D3EE"/>
          </a:solidFill>
          <a:ln w="12700">
            <a:solidFill>
              <a:srgbClr val="22D3EE"/>
            </a:solidFill>
            <a:prstDash val="solid"/>
          </a:ln>
        </p:spPr>
      </p:sp>
      <p:sp>
        <p:nvSpPr>
          <p:cNvPr id="37" name="Text 35"/>
          <p:cNvSpPr/>
          <p:nvPr/>
        </p:nvSpPr>
        <p:spPr>
          <a:xfrm>
            <a:off x="3703320" y="502920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OpenAPI / Swagger metadata</a:t>
            </a:r>
            <a:endParaRPr lang="en-US" sz="1050" dirty="0"/>
          </a:p>
        </p:txBody>
      </p:sp>
      <p:sp>
        <p:nvSpPr>
          <p:cNvPr id="38" name="Shape 36"/>
          <p:cNvSpPr/>
          <p:nvPr/>
        </p:nvSpPr>
        <p:spPr>
          <a:xfrm>
            <a:off x="6126480" y="2743200"/>
            <a:ext cx="2697480" cy="3383280"/>
          </a:xfrm>
          <a:prstGeom prst="roundRect">
            <a:avLst>
              <a:gd name="adj" fmla="val 3390"/>
            </a:avLst>
          </a:prstGeom>
          <a:solidFill>
            <a:srgbClr val="0F1730"/>
          </a:solidFill>
          <a:ln w="12700">
            <a:solidFill>
              <a:srgbClr val="1F2A48"/>
            </a:solidFill>
            <a:prstDash val="solid"/>
          </a:ln>
        </p:spPr>
      </p:sp>
      <p:sp>
        <p:nvSpPr>
          <p:cNvPr id="39" name="Shape 37"/>
          <p:cNvSpPr/>
          <p:nvPr/>
        </p:nvSpPr>
        <p:spPr>
          <a:xfrm>
            <a:off x="6355080" y="2971800"/>
            <a:ext cx="777240" cy="365760"/>
          </a:xfrm>
          <a:prstGeom prst="roundRect">
            <a:avLst>
              <a:gd name="adj" fmla="val 12500"/>
            </a:avLst>
          </a:prstGeom>
          <a:solidFill>
            <a:srgbClr val="8B95AD"/>
          </a:solidFill>
          <a:ln w="12700">
            <a:solidFill>
              <a:srgbClr val="8B95AD"/>
            </a:solidFill>
            <a:prstDash val="solid"/>
          </a:ln>
        </p:spPr>
      </p:sp>
      <p:sp>
        <p:nvSpPr>
          <p:cNvPr id="40" name="Text 38"/>
          <p:cNvSpPr/>
          <p:nvPr/>
        </p:nvSpPr>
        <p:spPr>
          <a:xfrm>
            <a:off x="6355080" y="2971800"/>
            <a:ext cx="777240" cy="365760"/>
          </a:xfrm>
          <a:prstGeom prst="rect">
            <a:avLst/>
          </a:prstGeom>
          <a:noFill/>
          <a:ln/>
        </p:spPr>
        <p:txBody>
          <a:bodyPr wrap="square" rtlCol="0" anchor="ctr"/>
          <a:lstStyle/>
          <a:p>
            <a:pPr algn="ctr" indent="0" marL="0">
              <a:buNone/>
            </a:pPr>
            <a:r>
              <a:rPr lang="en-US" sz="1200" b="1" dirty="0">
                <a:solidFill>
                  <a:srgbClr val="0B1224"/>
                </a:solidFill>
                <a:latin typeface="Calibri" pitchFamily="34" charset="0"/>
                <a:ea typeface="Calibri" pitchFamily="34" charset="-122"/>
                <a:cs typeface="Calibri" pitchFamily="34" charset="-120"/>
              </a:rPr>
              <a:t>v0.9</a:t>
            </a:r>
            <a:endParaRPr lang="en-US" sz="1200" dirty="0"/>
          </a:p>
        </p:txBody>
      </p:sp>
      <p:sp>
        <p:nvSpPr>
          <p:cNvPr id="41" name="Text 39"/>
          <p:cNvSpPr/>
          <p:nvPr/>
        </p:nvSpPr>
        <p:spPr>
          <a:xfrm>
            <a:off x="7223760" y="2944368"/>
            <a:ext cx="155448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Pre-1.0</a:t>
            </a:r>
            <a:endParaRPr lang="en-US" sz="1400" dirty="0"/>
          </a:p>
        </p:txBody>
      </p:sp>
      <p:sp>
        <p:nvSpPr>
          <p:cNvPr id="42" name="Shape 40"/>
          <p:cNvSpPr/>
          <p:nvPr/>
        </p:nvSpPr>
        <p:spPr>
          <a:xfrm>
            <a:off x="6355080" y="3639312"/>
            <a:ext cx="109728" cy="109728"/>
          </a:xfrm>
          <a:prstGeom prst="rect">
            <a:avLst/>
          </a:prstGeom>
          <a:solidFill>
            <a:srgbClr val="8B95AD"/>
          </a:solidFill>
          <a:ln w="12700">
            <a:solidFill>
              <a:srgbClr val="8B95AD"/>
            </a:solidFill>
            <a:prstDash val="solid"/>
          </a:ln>
        </p:spPr>
      </p:sp>
      <p:sp>
        <p:nvSpPr>
          <p:cNvPr id="43" name="Text 41"/>
          <p:cNvSpPr/>
          <p:nvPr/>
        </p:nvSpPr>
        <p:spPr>
          <a:xfrm>
            <a:off x="6537960" y="352044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OIDC bridge (be an identity provider)</a:t>
            </a:r>
            <a:endParaRPr lang="en-US" sz="1050" dirty="0"/>
          </a:p>
        </p:txBody>
      </p:sp>
      <p:sp>
        <p:nvSpPr>
          <p:cNvPr id="44" name="Shape 42"/>
          <p:cNvSpPr/>
          <p:nvPr/>
        </p:nvSpPr>
        <p:spPr>
          <a:xfrm>
            <a:off x="6355080" y="4142232"/>
            <a:ext cx="109728" cy="109728"/>
          </a:xfrm>
          <a:prstGeom prst="rect">
            <a:avLst/>
          </a:prstGeom>
          <a:solidFill>
            <a:srgbClr val="8B95AD"/>
          </a:solidFill>
          <a:ln w="12700">
            <a:solidFill>
              <a:srgbClr val="8B95AD"/>
            </a:solidFill>
            <a:prstDash val="solid"/>
          </a:ln>
        </p:spPr>
      </p:sp>
      <p:sp>
        <p:nvSpPr>
          <p:cNvPr id="45" name="Text 43"/>
          <p:cNvSpPr/>
          <p:nvPr/>
        </p:nvSpPr>
        <p:spPr>
          <a:xfrm>
            <a:off x="6537960" y="402336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Phone-only signup option</a:t>
            </a:r>
            <a:endParaRPr lang="en-US" sz="1050" dirty="0"/>
          </a:p>
        </p:txBody>
      </p:sp>
      <p:sp>
        <p:nvSpPr>
          <p:cNvPr id="46" name="Shape 44"/>
          <p:cNvSpPr/>
          <p:nvPr/>
        </p:nvSpPr>
        <p:spPr>
          <a:xfrm>
            <a:off x="6355080" y="4645152"/>
            <a:ext cx="109728" cy="109728"/>
          </a:xfrm>
          <a:prstGeom prst="rect">
            <a:avLst/>
          </a:prstGeom>
          <a:solidFill>
            <a:srgbClr val="8B95AD"/>
          </a:solidFill>
          <a:ln w="12700">
            <a:solidFill>
              <a:srgbClr val="8B95AD"/>
            </a:solidFill>
            <a:prstDash val="solid"/>
          </a:ln>
        </p:spPr>
      </p:sp>
      <p:sp>
        <p:nvSpPr>
          <p:cNvPr id="47" name="Text 45"/>
          <p:cNvSpPr/>
          <p:nvPr/>
        </p:nvSpPr>
        <p:spPr>
          <a:xfrm>
            <a:off x="6537960" y="452628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Admin dashboard polish</a:t>
            </a:r>
            <a:endParaRPr lang="en-US" sz="1050" dirty="0"/>
          </a:p>
        </p:txBody>
      </p:sp>
      <p:sp>
        <p:nvSpPr>
          <p:cNvPr id="48" name="Shape 46"/>
          <p:cNvSpPr/>
          <p:nvPr/>
        </p:nvSpPr>
        <p:spPr>
          <a:xfrm>
            <a:off x="6355080" y="5148072"/>
            <a:ext cx="109728" cy="109728"/>
          </a:xfrm>
          <a:prstGeom prst="rect">
            <a:avLst/>
          </a:prstGeom>
          <a:solidFill>
            <a:srgbClr val="8B95AD"/>
          </a:solidFill>
          <a:ln w="12700">
            <a:solidFill>
              <a:srgbClr val="8B95AD"/>
            </a:solidFill>
            <a:prstDash val="solid"/>
          </a:ln>
        </p:spPr>
      </p:sp>
      <p:sp>
        <p:nvSpPr>
          <p:cNvPr id="49" name="Text 47"/>
          <p:cNvSpPr/>
          <p:nvPr/>
        </p:nvSpPr>
        <p:spPr>
          <a:xfrm>
            <a:off x="6537960" y="502920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i18n / RTL support</a:t>
            </a:r>
            <a:endParaRPr lang="en-US" sz="1050" dirty="0"/>
          </a:p>
        </p:txBody>
      </p:sp>
      <p:sp>
        <p:nvSpPr>
          <p:cNvPr id="50" name="Shape 48"/>
          <p:cNvSpPr/>
          <p:nvPr/>
        </p:nvSpPr>
        <p:spPr>
          <a:xfrm>
            <a:off x="8961120" y="2743200"/>
            <a:ext cx="2697480" cy="3383280"/>
          </a:xfrm>
          <a:prstGeom prst="roundRect">
            <a:avLst>
              <a:gd name="adj" fmla="val 3390"/>
            </a:avLst>
          </a:prstGeom>
          <a:solidFill>
            <a:srgbClr val="0F1730"/>
          </a:solidFill>
          <a:ln w="12700">
            <a:solidFill>
              <a:srgbClr val="1F2A48"/>
            </a:solidFill>
            <a:prstDash val="solid"/>
          </a:ln>
        </p:spPr>
      </p:sp>
      <p:sp>
        <p:nvSpPr>
          <p:cNvPr id="51" name="Shape 49"/>
          <p:cNvSpPr/>
          <p:nvPr/>
        </p:nvSpPr>
        <p:spPr>
          <a:xfrm>
            <a:off x="9189720" y="2971800"/>
            <a:ext cx="777240" cy="365760"/>
          </a:xfrm>
          <a:prstGeom prst="roundRect">
            <a:avLst>
              <a:gd name="adj" fmla="val 12500"/>
            </a:avLst>
          </a:prstGeom>
          <a:solidFill>
            <a:srgbClr val="8B95AD"/>
          </a:solidFill>
          <a:ln w="12700">
            <a:solidFill>
              <a:srgbClr val="8B95AD"/>
            </a:solidFill>
            <a:prstDash val="solid"/>
          </a:ln>
        </p:spPr>
      </p:sp>
      <p:sp>
        <p:nvSpPr>
          <p:cNvPr id="52" name="Text 50"/>
          <p:cNvSpPr/>
          <p:nvPr/>
        </p:nvSpPr>
        <p:spPr>
          <a:xfrm>
            <a:off x="9189720" y="2971800"/>
            <a:ext cx="777240" cy="365760"/>
          </a:xfrm>
          <a:prstGeom prst="rect">
            <a:avLst/>
          </a:prstGeom>
          <a:noFill/>
          <a:ln/>
        </p:spPr>
        <p:txBody>
          <a:bodyPr wrap="square" rtlCol="0" anchor="ctr"/>
          <a:lstStyle/>
          <a:p>
            <a:pPr algn="ctr" indent="0" marL="0">
              <a:buNone/>
            </a:pPr>
            <a:r>
              <a:rPr lang="en-US" sz="1200" b="1" dirty="0">
                <a:solidFill>
                  <a:srgbClr val="0B1224"/>
                </a:solidFill>
                <a:latin typeface="Calibri" pitchFamily="34" charset="0"/>
                <a:ea typeface="Calibri" pitchFamily="34" charset="-122"/>
                <a:cs typeface="Calibri" pitchFamily="34" charset="-120"/>
              </a:rPr>
              <a:t>1.0</a:t>
            </a:r>
            <a:endParaRPr lang="en-US" sz="1200" dirty="0"/>
          </a:p>
        </p:txBody>
      </p:sp>
      <p:sp>
        <p:nvSpPr>
          <p:cNvPr id="53" name="Text 51"/>
          <p:cNvSpPr/>
          <p:nvPr/>
        </p:nvSpPr>
        <p:spPr>
          <a:xfrm>
            <a:off x="10058400" y="2944368"/>
            <a:ext cx="1554480" cy="411480"/>
          </a:xfrm>
          <a:prstGeom prst="rect">
            <a:avLst/>
          </a:prstGeom>
          <a:noFill/>
          <a:ln/>
        </p:spPr>
        <p:txBody>
          <a:bodyPr wrap="square" rtlCol="0" anchor="ctr"/>
          <a:lstStyle/>
          <a:p>
            <a:pPr indent="0" marL="0">
              <a:buNone/>
            </a:pPr>
            <a:r>
              <a:rPr lang="en-US" sz="1400" b="1" dirty="0">
                <a:solidFill>
                  <a:srgbClr val="F5F7FA"/>
                </a:solidFill>
                <a:latin typeface="Calibri" pitchFamily="34" charset="0"/>
                <a:ea typeface="Calibri" pitchFamily="34" charset="-122"/>
                <a:cs typeface="Calibri" pitchFamily="34" charset="-120"/>
              </a:rPr>
              <a:t>Launch</a:t>
            </a:r>
            <a:endParaRPr lang="en-US" sz="1400" dirty="0"/>
          </a:p>
        </p:txBody>
      </p:sp>
      <p:sp>
        <p:nvSpPr>
          <p:cNvPr id="54" name="Shape 52"/>
          <p:cNvSpPr/>
          <p:nvPr/>
        </p:nvSpPr>
        <p:spPr>
          <a:xfrm>
            <a:off x="9189720" y="3639312"/>
            <a:ext cx="109728" cy="109728"/>
          </a:xfrm>
          <a:prstGeom prst="rect">
            <a:avLst/>
          </a:prstGeom>
          <a:solidFill>
            <a:srgbClr val="8B95AD"/>
          </a:solidFill>
          <a:ln w="12700">
            <a:solidFill>
              <a:srgbClr val="8B95AD"/>
            </a:solidFill>
            <a:prstDash val="solid"/>
          </a:ln>
        </p:spPr>
      </p:sp>
      <p:sp>
        <p:nvSpPr>
          <p:cNvPr id="55" name="Text 53"/>
          <p:cNvSpPr/>
          <p:nvPr/>
        </p:nvSpPr>
        <p:spPr>
          <a:xfrm>
            <a:off x="9372600" y="352044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.NET Foundation incubation</a:t>
            </a:r>
            <a:endParaRPr lang="en-US" sz="1050" dirty="0"/>
          </a:p>
        </p:txBody>
      </p:sp>
      <p:sp>
        <p:nvSpPr>
          <p:cNvPr id="56" name="Shape 54"/>
          <p:cNvSpPr/>
          <p:nvPr/>
        </p:nvSpPr>
        <p:spPr>
          <a:xfrm>
            <a:off x="9189720" y="4142232"/>
            <a:ext cx="109728" cy="109728"/>
          </a:xfrm>
          <a:prstGeom prst="rect">
            <a:avLst/>
          </a:prstGeom>
          <a:solidFill>
            <a:srgbClr val="8B95AD"/>
          </a:solidFill>
          <a:ln w="12700">
            <a:solidFill>
              <a:srgbClr val="8B95AD"/>
            </a:solidFill>
            <a:prstDash val="solid"/>
          </a:ln>
        </p:spPr>
      </p:sp>
      <p:sp>
        <p:nvSpPr>
          <p:cNvPr id="57" name="Text 55"/>
          <p:cNvSpPr/>
          <p:nvPr/>
        </p:nvSpPr>
        <p:spPr>
          <a:xfrm>
            <a:off x="9372600" y="402336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Production-grade docs site</a:t>
            </a:r>
            <a:endParaRPr lang="en-US" sz="1050" dirty="0"/>
          </a:p>
        </p:txBody>
      </p:sp>
      <p:sp>
        <p:nvSpPr>
          <p:cNvPr id="58" name="Shape 56"/>
          <p:cNvSpPr/>
          <p:nvPr/>
        </p:nvSpPr>
        <p:spPr>
          <a:xfrm>
            <a:off x="9189720" y="4645152"/>
            <a:ext cx="109728" cy="109728"/>
          </a:xfrm>
          <a:prstGeom prst="rect">
            <a:avLst/>
          </a:prstGeom>
          <a:solidFill>
            <a:srgbClr val="8B95AD"/>
          </a:solidFill>
          <a:ln w="12700">
            <a:solidFill>
              <a:srgbClr val="8B95AD"/>
            </a:solidFill>
            <a:prstDash val="solid"/>
          </a:ln>
        </p:spPr>
      </p:sp>
      <p:sp>
        <p:nvSpPr>
          <p:cNvPr id="59" name="Text 57"/>
          <p:cNvSpPr/>
          <p:nvPr/>
        </p:nvSpPr>
        <p:spPr>
          <a:xfrm>
            <a:off x="9372600" y="452628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Conference talk circuit</a:t>
            </a:r>
            <a:endParaRPr lang="en-US" sz="1050" dirty="0"/>
          </a:p>
        </p:txBody>
      </p:sp>
      <p:sp>
        <p:nvSpPr>
          <p:cNvPr id="60" name="Shape 58"/>
          <p:cNvSpPr/>
          <p:nvPr/>
        </p:nvSpPr>
        <p:spPr>
          <a:xfrm>
            <a:off x="9189720" y="5148072"/>
            <a:ext cx="109728" cy="109728"/>
          </a:xfrm>
          <a:prstGeom prst="rect">
            <a:avLst/>
          </a:prstGeom>
          <a:solidFill>
            <a:srgbClr val="8B95AD"/>
          </a:solidFill>
          <a:ln w="12700">
            <a:solidFill>
              <a:srgbClr val="8B95AD"/>
            </a:solidFill>
            <a:prstDash val="solid"/>
          </a:ln>
        </p:spPr>
      </p:sp>
      <p:sp>
        <p:nvSpPr>
          <p:cNvPr id="61" name="Text 59"/>
          <p:cNvSpPr/>
          <p:nvPr/>
        </p:nvSpPr>
        <p:spPr>
          <a:xfrm>
            <a:off x="9372600" y="5029200"/>
            <a:ext cx="2240280" cy="457200"/>
          </a:xfrm>
          <a:prstGeom prst="rect">
            <a:avLst/>
          </a:prstGeom>
          <a:noFill/>
          <a:ln/>
        </p:spPr>
        <p:txBody>
          <a:bodyPr wrap="square" rtlCol="0" anchor="t"/>
          <a:lstStyle/>
          <a:p>
            <a:pPr indent="0" marL="0">
              <a:buNone/>
            </a:pPr>
            <a:r>
              <a:rPr lang="en-US" sz="1050" dirty="0">
                <a:solidFill>
                  <a:srgbClr val="D8DEE9"/>
                </a:solidFill>
                <a:latin typeface="Calibri" pitchFamily="34" charset="0"/>
                <a:ea typeface="Calibri" pitchFamily="34" charset="-122"/>
                <a:cs typeface="Calibri" pitchFamily="34" charset="-120"/>
              </a:rPr>
              <a:t>Trademark + governance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4"/>
        </a:solidFill>
      </p:bgPr>
    </p:bg>
    <p:spTree>
      <p:nvGrpSpPr>
        <p:cNvPr id="1" name=""/>
        <p:cNvGrpSpPr/>
        <p:nvPr/>
      </p:nvGrpSpPr>
      <p:grpSpPr>
        <a:xfrm>
          <a:off x="0" y="0"/>
          <a:ext cx="0" cy="0"/>
          <a:chOff x="0" y="0"/>
          <a:chExt cx="0" cy="0"/>
        </a:xfrm>
      </p:grpSpPr>
      <p:sp>
        <p:nvSpPr>
          <p:cNvPr id="2" name="Shape 0"/>
          <p:cNvSpPr/>
          <p:nvPr/>
        </p:nvSpPr>
        <p:spPr>
          <a:xfrm>
            <a:off x="457200" y="365760"/>
            <a:ext cx="164592" cy="164592"/>
          </a:xfrm>
          <a:prstGeom prst="rect">
            <a:avLst/>
          </a:prstGeom>
          <a:solidFill>
            <a:srgbClr val="2563EB"/>
          </a:solidFill>
          <a:ln w="12700">
            <a:solidFill>
              <a:srgbClr val="2563EB"/>
            </a:solidFill>
            <a:prstDash val="solid"/>
          </a:ln>
        </p:spPr>
      </p:sp>
      <p:sp>
        <p:nvSpPr>
          <p:cNvPr id="3" name="Shape 1"/>
          <p:cNvSpPr/>
          <p:nvPr/>
        </p:nvSpPr>
        <p:spPr>
          <a:xfrm>
            <a:off x="676656" y="365760"/>
            <a:ext cx="54864" cy="164592"/>
          </a:xfrm>
          <a:prstGeom prst="rect">
            <a:avLst/>
          </a:prstGeom>
          <a:solidFill>
            <a:srgbClr val="22D3EE"/>
          </a:solidFill>
          <a:ln w="12700">
            <a:solidFill>
              <a:srgbClr val="22D3EE"/>
            </a:solidFill>
            <a:prstDash val="solid"/>
          </a:ln>
        </p:spPr>
      </p:sp>
      <p:sp>
        <p:nvSpPr>
          <p:cNvPr id="4" name="Text 2"/>
          <p:cNvSpPr/>
          <p:nvPr/>
        </p:nvSpPr>
        <p:spPr>
          <a:xfrm>
            <a:off x="786384" y="310896"/>
            <a:ext cx="1828800" cy="274320"/>
          </a:xfrm>
          <a:prstGeom prst="rect">
            <a:avLst/>
          </a:prstGeom>
          <a:noFill/>
          <a:ln/>
        </p:spPr>
        <p:txBody>
          <a:bodyPr wrap="square" rtlCol="0" anchor="ctr"/>
          <a:lstStyle/>
          <a:p>
            <a:pPr indent="0" marL="0">
              <a:buNone/>
            </a:pPr>
            <a:r>
              <a:rPr lang="en-US" sz="1200" b="1" spc="200" kern="0" dirty="0">
                <a:solidFill>
                  <a:srgbClr val="F5F7FA"/>
                </a:solidFill>
                <a:latin typeface="Calibri" pitchFamily="34" charset="0"/>
                <a:ea typeface="Calibri" pitchFamily="34" charset="-122"/>
                <a:cs typeface="Calibri" pitchFamily="34" charset="-120"/>
              </a:rPr>
              <a:t>TapInAuth</a:t>
            </a:r>
            <a:endParaRPr lang="en-US" sz="1200" dirty="0"/>
          </a:p>
        </p:txBody>
      </p:sp>
      <p:sp>
        <p:nvSpPr>
          <p:cNvPr id="5" name="Shape 3"/>
          <p:cNvSpPr/>
          <p:nvPr/>
        </p:nvSpPr>
        <p:spPr>
          <a:xfrm>
            <a:off x="457200" y="6492240"/>
            <a:ext cx="11274552" cy="10973"/>
          </a:xfrm>
          <a:prstGeom prst="rect">
            <a:avLst/>
          </a:prstGeom>
          <a:solidFill>
            <a:srgbClr val="1F2A48"/>
          </a:solidFill>
          <a:ln w="12700">
            <a:solidFill>
              <a:srgbClr val="1F2A48"/>
            </a:solidFill>
            <a:prstDash val="solid"/>
          </a:ln>
        </p:spPr>
      </p:sp>
      <p:sp>
        <p:nvSpPr>
          <p:cNvPr id="6" name="Text 4"/>
          <p:cNvSpPr/>
          <p:nvPr/>
        </p:nvSpPr>
        <p:spPr>
          <a:xfrm>
            <a:off x="457200" y="6547104"/>
            <a:ext cx="4572000" cy="228600"/>
          </a:xfrm>
          <a:prstGeom prst="rect">
            <a:avLst/>
          </a:prstGeom>
          <a:noFill/>
          <a:ln/>
        </p:spPr>
        <p:txBody>
          <a:bodyPr wrap="square" rtlCol="0" anchor="ctr"/>
          <a:lstStyle/>
          <a:p>
            <a:pPr indent="0" marL="0">
              <a:buNone/>
            </a:pPr>
            <a:r>
              <a:rPr lang="en-US" sz="900" dirty="0">
                <a:solidFill>
                  <a:srgbClr val="8B95AD"/>
                </a:solidFill>
                <a:latin typeface="Calibri" pitchFamily="34" charset="0"/>
                <a:ea typeface="Calibri" pitchFamily="34" charset="-122"/>
                <a:cs typeface="Calibri" pitchFamily="34" charset="-120"/>
              </a:rPr>
              <a:t>tapinauth.io</a:t>
            </a:r>
            <a:endParaRPr lang="en-US" sz="900" dirty="0"/>
          </a:p>
        </p:txBody>
      </p:sp>
      <p:sp>
        <p:nvSpPr>
          <p:cNvPr id="7" name="Text 5"/>
          <p:cNvSpPr/>
          <p:nvPr/>
        </p:nvSpPr>
        <p:spPr>
          <a:xfrm>
            <a:off x="7159752" y="6547104"/>
            <a:ext cx="4572000" cy="228600"/>
          </a:xfrm>
          <a:prstGeom prst="rect">
            <a:avLst/>
          </a:prstGeom>
          <a:noFill/>
          <a:ln/>
        </p:spPr>
        <p:txBody>
          <a:bodyPr wrap="square" rtlCol="0" anchor="ctr"/>
          <a:lstStyle/>
          <a:p>
            <a:pPr algn="r" indent="0" marL="0">
              <a:buNone/>
            </a:pPr>
            <a:r>
              <a:rPr lang="en-US" sz="900" dirty="0">
                <a:solidFill>
                  <a:srgbClr val="8B95AD"/>
                </a:solidFill>
                <a:latin typeface="Calibri" pitchFamily="34" charset="0"/>
                <a:ea typeface="Calibri" pitchFamily="34" charset="-122"/>
                <a:cs typeface="Calibri" pitchFamily="34" charset="-120"/>
              </a:rPr>
              <a:t>MIT licensed · open source · .NET 10</a:t>
            </a:r>
            <a:endParaRPr lang="en-US" sz="900" dirty="0"/>
          </a:p>
        </p:txBody>
      </p:sp>
      <p:sp>
        <p:nvSpPr>
          <p:cNvPr id="8" name="Text 6"/>
          <p:cNvSpPr/>
          <p:nvPr/>
        </p:nvSpPr>
        <p:spPr>
          <a:xfrm>
            <a:off x="10817352" y="310896"/>
            <a:ext cx="914400" cy="274320"/>
          </a:xfrm>
          <a:prstGeom prst="rect">
            <a:avLst/>
          </a:prstGeom>
          <a:noFill/>
          <a:ln/>
        </p:spPr>
        <p:txBody>
          <a:bodyPr wrap="square" rtlCol="0" anchor="ctr"/>
          <a:lstStyle/>
          <a:p>
            <a:pPr algn="r" indent="0" marL="0">
              <a:buNone/>
            </a:pPr>
            <a:r>
              <a:rPr lang="en-US" sz="1000" dirty="0">
                <a:solidFill>
                  <a:srgbClr val="8B95AD"/>
                </a:solidFill>
                <a:latin typeface="Calibri" pitchFamily="34" charset="0"/>
                <a:ea typeface="Calibri" pitchFamily="34" charset="-122"/>
                <a:cs typeface="Calibri" pitchFamily="34" charset="-120"/>
              </a:rPr>
              <a:t>12 / 12</a:t>
            </a:r>
            <a:endParaRPr lang="en-US" sz="1000" dirty="0"/>
          </a:p>
        </p:txBody>
      </p:sp>
      <p:sp>
        <p:nvSpPr>
          <p:cNvPr id="9" name="Text 7"/>
          <p:cNvSpPr/>
          <p:nvPr/>
        </p:nvSpPr>
        <p:spPr>
          <a:xfrm>
            <a:off x="457200" y="1280160"/>
            <a:ext cx="11247120" cy="1280160"/>
          </a:xfrm>
          <a:prstGeom prst="rect">
            <a:avLst/>
          </a:prstGeom>
          <a:noFill/>
          <a:ln/>
        </p:spPr>
        <p:txBody>
          <a:bodyPr wrap="square"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Ship passwordless this week.</a:t>
            </a:r>
            <a:endParaRPr lang="en-US" sz="5200" dirty="0"/>
          </a:p>
        </p:txBody>
      </p:sp>
      <p:sp>
        <p:nvSpPr>
          <p:cNvPr id="10" name="Text 8"/>
          <p:cNvSpPr/>
          <p:nvPr/>
        </p:nvSpPr>
        <p:spPr>
          <a:xfrm>
            <a:off x="457200" y="2651760"/>
            <a:ext cx="11247120" cy="548640"/>
          </a:xfrm>
          <a:prstGeom prst="rect">
            <a:avLst/>
          </a:prstGeom>
          <a:noFill/>
          <a:ln/>
        </p:spPr>
        <p:txBody>
          <a:bodyPr wrap="square" rtlCol="0" anchor="ctr"/>
          <a:lstStyle/>
          <a:p>
            <a:pPr indent="0" marL="0">
              <a:buNone/>
            </a:pPr>
            <a:r>
              <a:rPr lang="en-US" sz="1800" dirty="0">
                <a:solidFill>
                  <a:srgbClr val="22D3EE"/>
                </a:solidFill>
                <a:latin typeface="Calibri" pitchFamily="34" charset="0"/>
                <a:ea typeface="Calibri" pitchFamily="34" charset="-122"/>
                <a:cs typeface="Calibri" pitchFamily="34" charset="-120"/>
              </a:rPr>
              <a:t>Try it. Star it. Open an issue. Sponsor a milestone.</a:t>
            </a:r>
            <a:endParaRPr lang="en-US" sz="1800" dirty="0"/>
          </a:p>
        </p:txBody>
      </p:sp>
      <p:sp>
        <p:nvSpPr>
          <p:cNvPr id="11" name="Shape 9"/>
          <p:cNvSpPr/>
          <p:nvPr/>
        </p:nvSpPr>
        <p:spPr>
          <a:xfrm>
            <a:off x="457200" y="3520440"/>
            <a:ext cx="2697480" cy="2377440"/>
          </a:xfrm>
          <a:prstGeom prst="roundRect">
            <a:avLst>
              <a:gd name="adj" fmla="val 3846"/>
            </a:avLst>
          </a:prstGeom>
          <a:solidFill>
            <a:srgbClr val="0F1730"/>
          </a:solidFill>
          <a:ln w="12700">
            <a:solidFill>
              <a:srgbClr val="1F2A48"/>
            </a:solidFill>
            <a:prstDash val="solid"/>
          </a:ln>
        </p:spPr>
      </p:sp>
      <p:sp>
        <p:nvSpPr>
          <p:cNvPr id="12" name="Shape 10"/>
          <p:cNvSpPr/>
          <p:nvPr/>
        </p:nvSpPr>
        <p:spPr>
          <a:xfrm>
            <a:off x="457200" y="3520440"/>
            <a:ext cx="2697480" cy="73152"/>
          </a:xfrm>
          <a:prstGeom prst="rect">
            <a:avLst/>
          </a:prstGeom>
          <a:solidFill>
            <a:srgbClr val="2563EB"/>
          </a:solidFill>
          <a:ln w="12700">
            <a:solidFill>
              <a:srgbClr val="2563EB"/>
            </a:solidFill>
            <a:prstDash val="solid"/>
          </a:ln>
        </p:spPr>
      </p:sp>
      <p:sp>
        <p:nvSpPr>
          <p:cNvPr id="13" name="Text 11"/>
          <p:cNvSpPr/>
          <p:nvPr/>
        </p:nvSpPr>
        <p:spPr>
          <a:xfrm>
            <a:off x="685800" y="3749040"/>
            <a:ext cx="2377440" cy="457200"/>
          </a:xfrm>
          <a:prstGeom prst="rect">
            <a:avLst/>
          </a:prstGeom>
          <a:noFill/>
          <a:ln/>
        </p:spPr>
        <p:txBody>
          <a:bodyPr wrap="square"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GitHub</a:t>
            </a:r>
            <a:endParaRPr lang="en-US" sz="1800" dirty="0"/>
          </a:p>
        </p:txBody>
      </p:sp>
      <p:sp>
        <p:nvSpPr>
          <p:cNvPr id="14" name="Text 12"/>
          <p:cNvSpPr/>
          <p:nvPr/>
        </p:nvSpPr>
        <p:spPr>
          <a:xfrm>
            <a:off x="685800" y="4389120"/>
            <a:ext cx="2377440" cy="1005840"/>
          </a:xfrm>
          <a:prstGeom prst="rect">
            <a:avLst/>
          </a:prstGeom>
          <a:noFill/>
          <a:ln/>
        </p:spPr>
        <p:txBody>
          <a:bodyPr wrap="square" rtlCol="0" anchor="t"/>
          <a:lstStyle/>
          <a:p>
            <a:pPr indent="0" marL="0">
              <a:buNone/>
            </a:pPr>
            <a:r>
              <a:rPr lang="en-US" sz="1150" dirty="0">
                <a:solidFill>
                  <a:srgbClr val="F5F7FA"/>
                </a:solidFill>
                <a:latin typeface="Courier New" pitchFamily="34" charset="0"/>
                <a:ea typeface="Courier New" pitchFamily="34" charset="-122"/>
                <a:cs typeface="Courier New" pitchFamily="34" charset="-120"/>
              </a:rPr>
              <a:t>github.com/tapinauth/tapinauth</a:t>
            </a:r>
            <a:endParaRPr lang="en-US" sz="1150" dirty="0"/>
          </a:p>
        </p:txBody>
      </p:sp>
      <p:sp>
        <p:nvSpPr>
          <p:cNvPr id="15" name="Text 13"/>
          <p:cNvSpPr/>
          <p:nvPr/>
        </p:nvSpPr>
        <p:spPr>
          <a:xfrm>
            <a:off x="685800" y="5394960"/>
            <a:ext cx="2377440" cy="411480"/>
          </a:xfrm>
          <a:prstGeom prst="rect">
            <a:avLst/>
          </a:prstGeom>
          <a:noFill/>
          <a:ln/>
        </p:spPr>
        <p:txBody>
          <a:bodyPr wrap="square" rtlCol="0" anchor="t"/>
          <a:lstStyle/>
          <a:p>
            <a:pPr indent="0" marL="0">
              <a:buNone/>
            </a:pPr>
            <a:r>
              <a:rPr lang="en-US" sz="1000" i="1" dirty="0">
                <a:solidFill>
                  <a:srgbClr val="8B95AD"/>
                </a:solidFill>
                <a:latin typeface="Calibri" pitchFamily="34" charset="0"/>
                <a:ea typeface="Calibri" pitchFamily="34" charset="-122"/>
                <a:cs typeface="Calibri" pitchFamily="34" charset="-120"/>
              </a:rPr>
              <a:t>MIT licensed</a:t>
            </a:r>
            <a:endParaRPr lang="en-US" sz="1000" dirty="0"/>
          </a:p>
        </p:txBody>
      </p:sp>
      <p:sp>
        <p:nvSpPr>
          <p:cNvPr id="16" name="Shape 14"/>
          <p:cNvSpPr/>
          <p:nvPr/>
        </p:nvSpPr>
        <p:spPr>
          <a:xfrm>
            <a:off x="3291840" y="3520440"/>
            <a:ext cx="2697480" cy="2377440"/>
          </a:xfrm>
          <a:prstGeom prst="roundRect">
            <a:avLst>
              <a:gd name="adj" fmla="val 3846"/>
            </a:avLst>
          </a:prstGeom>
          <a:solidFill>
            <a:srgbClr val="0F1730"/>
          </a:solidFill>
          <a:ln w="12700">
            <a:solidFill>
              <a:srgbClr val="1F2A48"/>
            </a:solidFill>
            <a:prstDash val="solid"/>
          </a:ln>
        </p:spPr>
      </p:sp>
      <p:sp>
        <p:nvSpPr>
          <p:cNvPr id="17" name="Shape 15"/>
          <p:cNvSpPr/>
          <p:nvPr/>
        </p:nvSpPr>
        <p:spPr>
          <a:xfrm>
            <a:off x="3291840" y="3520440"/>
            <a:ext cx="2697480" cy="73152"/>
          </a:xfrm>
          <a:prstGeom prst="rect">
            <a:avLst/>
          </a:prstGeom>
          <a:solidFill>
            <a:srgbClr val="2563EB"/>
          </a:solidFill>
          <a:ln w="12700">
            <a:solidFill>
              <a:srgbClr val="2563EB"/>
            </a:solidFill>
            <a:prstDash val="solid"/>
          </a:ln>
        </p:spPr>
      </p:sp>
      <p:sp>
        <p:nvSpPr>
          <p:cNvPr id="18" name="Text 16"/>
          <p:cNvSpPr/>
          <p:nvPr/>
        </p:nvSpPr>
        <p:spPr>
          <a:xfrm>
            <a:off x="3520440" y="3749040"/>
            <a:ext cx="2377440" cy="457200"/>
          </a:xfrm>
          <a:prstGeom prst="rect">
            <a:avLst/>
          </a:prstGeom>
          <a:noFill/>
          <a:ln/>
        </p:spPr>
        <p:txBody>
          <a:bodyPr wrap="square"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NuGet</a:t>
            </a:r>
            <a:endParaRPr lang="en-US" sz="1800" dirty="0"/>
          </a:p>
        </p:txBody>
      </p:sp>
      <p:sp>
        <p:nvSpPr>
          <p:cNvPr id="19" name="Text 17"/>
          <p:cNvSpPr/>
          <p:nvPr/>
        </p:nvSpPr>
        <p:spPr>
          <a:xfrm>
            <a:off x="3520440" y="4389120"/>
            <a:ext cx="2377440" cy="1005840"/>
          </a:xfrm>
          <a:prstGeom prst="rect">
            <a:avLst/>
          </a:prstGeom>
          <a:noFill/>
          <a:ln/>
        </p:spPr>
        <p:txBody>
          <a:bodyPr wrap="square" rtlCol="0" anchor="t"/>
          <a:lstStyle/>
          <a:p>
            <a:pPr indent="0" marL="0">
              <a:buNone/>
            </a:pPr>
            <a:r>
              <a:rPr lang="en-US" sz="1150" dirty="0">
                <a:solidFill>
                  <a:srgbClr val="F5F7FA"/>
                </a:solidFill>
                <a:latin typeface="Courier New" pitchFamily="34" charset="0"/>
                <a:ea typeface="Courier New" pitchFamily="34" charset="-122"/>
                <a:cs typeface="Courier New" pitchFamily="34" charset="-120"/>
              </a:rPr>
              <a:t>nuget.org/packages/TapInAuth</a:t>
            </a:r>
            <a:endParaRPr lang="en-US" sz="1150" dirty="0"/>
          </a:p>
        </p:txBody>
      </p:sp>
      <p:sp>
        <p:nvSpPr>
          <p:cNvPr id="20" name="Text 18"/>
          <p:cNvSpPr/>
          <p:nvPr/>
        </p:nvSpPr>
        <p:spPr>
          <a:xfrm>
            <a:off x="3520440" y="5394960"/>
            <a:ext cx="2377440" cy="411480"/>
          </a:xfrm>
          <a:prstGeom prst="rect">
            <a:avLst/>
          </a:prstGeom>
          <a:noFill/>
          <a:ln/>
        </p:spPr>
        <p:txBody>
          <a:bodyPr wrap="square" rtlCol="0" anchor="t"/>
          <a:lstStyle/>
          <a:p>
            <a:pPr indent="0" marL="0">
              <a:buNone/>
            </a:pPr>
            <a:r>
              <a:rPr lang="en-US" sz="1000" i="1" dirty="0">
                <a:solidFill>
                  <a:srgbClr val="8B95AD"/>
                </a:solidFill>
                <a:latin typeface="Calibri" pitchFamily="34" charset="0"/>
                <a:ea typeface="Calibri" pitchFamily="34" charset="-122"/>
                <a:cs typeface="Calibri" pitchFamily="34" charset="-120"/>
              </a:rPr>
              <a:t>TapInAuth.* — 12 packages</a:t>
            </a:r>
            <a:endParaRPr lang="en-US" sz="1000" dirty="0"/>
          </a:p>
        </p:txBody>
      </p:sp>
      <p:sp>
        <p:nvSpPr>
          <p:cNvPr id="21" name="Shape 19"/>
          <p:cNvSpPr/>
          <p:nvPr/>
        </p:nvSpPr>
        <p:spPr>
          <a:xfrm>
            <a:off x="6126480" y="3520440"/>
            <a:ext cx="2697480" cy="2377440"/>
          </a:xfrm>
          <a:prstGeom prst="roundRect">
            <a:avLst>
              <a:gd name="adj" fmla="val 3846"/>
            </a:avLst>
          </a:prstGeom>
          <a:solidFill>
            <a:srgbClr val="0F1730"/>
          </a:solidFill>
          <a:ln w="12700">
            <a:solidFill>
              <a:srgbClr val="1F2A48"/>
            </a:solidFill>
            <a:prstDash val="solid"/>
          </a:ln>
        </p:spPr>
      </p:sp>
      <p:sp>
        <p:nvSpPr>
          <p:cNvPr id="22" name="Shape 20"/>
          <p:cNvSpPr/>
          <p:nvPr/>
        </p:nvSpPr>
        <p:spPr>
          <a:xfrm>
            <a:off x="6126480" y="3520440"/>
            <a:ext cx="2697480" cy="73152"/>
          </a:xfrm>
          <a:prstGeom prst="rect">
            <a:avLst/>
          </a:prstGeom>
          <a:solidFill>
            <a:srgbClr val="2563EB"/>
          </a:solidFill>
          <a:ln w="12700">
            <a:solidFill>
              <a:srgbClr val="2563EB"/>
            </a:solidFill>
            <a:prstDash val="solid"/>
          </a:ln>
        </p:spPr>
      </p:sp>
      <p:sp>
        <p:nvSpPr>
          <p:cNvPr id="23" name="Text 21"/>
          <p:cNvSpPr/>
          <p:nvPr/>
        </p:nvSpPr>
        <p:spPr>
          <a:xfrm>
            <a:off x="6355080" y="3749040"/>
            <a:ext cx="2377440" cy="457200"/>
          </a:xfrm>
          <a:prstGeom prst="rect">
            <a:avLst/>
          </a:prstGeom>
          <a:noFill/>
          <a:ln/>
        </p:spPr>
        <p:txBody>
          <a:bodyPr wrap="square"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Docs</a:t>
            </a:r>
            <a:endParaRPr lang="en-US" sz="1800" dirty="0"/>
          </a:p>
        </p:txBody>
      </p:sp>
      <p:sp>
        <p:nvSpPr>
          <p:cNvPr id="24" name="Text 22"/>
          <p:cNvSpPr/>
          <p:nvPr/>
        </p:nvSpPr>
        <p:spPr>
          <a:xfrm>
            <a:off x="6355080" y="4389120"/>
            <a:ext cx="2377440" cy="1005840"/>
          </a:xfrm>
          <a:prstGeom prst="rect">
            <a:avLst/>
          </a:prstGeom>
          <a:noFill/>
          <a:ln/>
        </p:spPr>
        <p:txBody>
          <a:bodyPr wrap="square" rtlCol="0" anchor="t"/>
          <a:lstStyle/>
          <a:p>
            <a:pPr indent="0" marL="0">
              <a:buNone/>
            </a:pPr>
            <a:r>
              <a:rPr lang="en-US" sz="1150" dirty="0">
                <a:solidFill>
                  <a:srgbClr val="F5F7FA"/>
                </a:solidFill>
                <a:latin typeface="Courier New" pitchFamily="34" charset="0"/>
                <a:ea typeface="Courier New" pitchFamily="34" charset="-122"/>
                <a:cs typeface="Courier New" pitchFamily="34" charset="-120"/>
              </a:rPr>
              <a:t>tapinauth.io/docs</a:t>
            </a:r>
            <a:endParaRPr lang="en-US" sz="1150" dirty="0"/>
          </a:p>
        </p:txBody>
      </p:sp>
      <p:sp>
        <p:nvSpPr>
          <p:cNvPr id="25" name="Text 23"/>
          <p:cNvSpPr/>
          <p:nvPr/>
        </p:nvSpPr>
        <p:spPr>
          <a:xfrm>
            <a:off x="6355080" y="5394960"/>
            <a:ext cx="2377440" cy="411480"/>
          </a:xfrm>
          <a:prstGeom prst="rect">
            <a:avLst/>
          </a:prstGeom>
          <a:noFill/>
          <a:ln/>
        </p:spPr>
        <p:txBody>
          <a:bodyPr wrap="square" rtlCol="0" anchor="t"/>
          <a:lstStyle/>
          <a:p>
            <a:pPr indent="0" marL="0">
              <a:buNone/>
            </a:pPr>
            <a:r>
              <a:rPr lang="en-US" sz="1000" i="1" dirty="0">
                <a:solidFill>
                  <a:srgbClr val="8B95AD"/>
                </a:solidFill>
                <a:latin typeface="Calibri" pitchFamily="34" charset="0"/>
                <a:ea typeface="Calibri" pitchFamily="34" charset="-122"/>
                <a:cs typeface="Calibri" pitchFamily="34" charset="-120"/>
              </a:rPr>
              <a:t>Quickstarts · howtos · reference</a:t>
            </a:r>
            <a:endParaRPr lang="en-US" sz="1000" dirty="0"/>
          </a:p>
        </p:txBody>
      </p:sp>
      <p:sp>
        <p:nvSpPr>
          <p:cNvPr id="26" name="Shape 24"/>
          <p:cNvSpPr/>
          <p:nvPr/>
        </p:nvSpPr>
        <p:spPr>
          <a:xfrm>
            <a:off x="8961120" y="3520440"/>
            <a:ext cx="2697480" cy="2377440"/>
          </a:xfrm>
          <a:prstGeom prst="roundRect">
            <a:avLst>
              <a:gd name="adj" fmla="val 3846"/>
            </a:avLst>
          </a:prstGeom>
          <a:solidFill>
            <a:srgbClr val="0F1730"/>
          </a:solidFill>
          <a:ln w="12700">
            <a:solidFill>
              <a:srgbClr val="1F2A48"/>
            </a:solidFill>
            <a:prstDash val="solid"/>
          </a:ln>
        </p:spPr>
      </p:sp>
      <p:sp>
        <p:nvSpPr>
          <p:cNvPr id="27" name="Shape 25"/>
          <p:cNvSpPr/>
          <p:nvPr/>
        </p:nvSpPr>
        <p:spPr>
          <a:xfrm>
            <a:off x="8961120" y="3520440"/>
            <a:ext cx="2697480" cy="73152"/>
          </a:xfrm>
          <a:prstGeom prst="rect">
            <a:avLst/>
          </a:prstGeom>
          <a:solidFill>
            <a:srgbClr val="2563EB"/>
          </a:solidFill>
          <a:ln w="12700">
            <a:solidFill>
              <a:srgbClr val="2563EB"/>
            </a:solidFill>
            <a:prstDash val="solid"/>
          </a:ln>
        </p:spPr>
      </p:sp>
      <p:sp>
        <p:nvSpPr>
          <p:cNvPr id="28" name="Text 26"/>
          <p:cNvSpPr/>
          <p:nvPr/>
        </p:nvSpPr>
        <p:spPr>
          <a:xfrm>
            <a:off x="9189720" y="3749040"/>
            <a:ext cx="2377440" cy="457200"/>
          </a:xfrm>
          <a:prstGeom prst="rect">
            <a:avLst/>
          </a:prstGeom>
          <a:noFill/>
          <a:ln/>
        </p:spPr>
        <p:txBody>
          <a:bodyPr wrap="square"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Contribute</a:t>
            </a:r>
            <a:endParaRPr lang="en-US" sz="1800" dirty="0"/>
          </a:p>
        </p:txBody>
      </p:sp>
      <p:sp>
        <p:nvSpPr>
          <p:cNvPr id="29" name="Text 27"/>
          <p:cNvSpPr/>
          <p:nvPr/>
        </p:nvSpPr>
        <p:spPr>
          <a:xfrm>
            <a:off x="9189720" y="4389120"/>
            <a:ext cx="2377440" cy="1005840"/>
          </a:xfrm>
          <a:prstGeom prst="rect">
            <a:avLst/>
          </a:prstGeom>
          <a:noFill/>
          <a:ln/>
        </p:spPr>
        <p:txBody>
          <a:bodyPr wrap="square" rtlCol="0" anchor="t"/>
          <a:lstStyle/>
          <a:p>
            <a:pPr indent="0" marL="0">
              <a:buNone/>
            </a:pPr>
            <a:r>
              <a:rPr lang="en-US" sz="1150" dirty="0">
                <a:solidFill>
                  <a:srgbClr val="F5F7FA"/>
                </a:solidFill>
                <a:latin typeface="Courier New" pitchFamily="34" charset="0"/>
                <a:ea typeface="Courier New" pitchFamily="34" charset="-122"/>
                <a:cs typeface="Courier New" pitchFamily="34" charset="-120"/>
              </a:rPr>
              <a:t>CONTRIBUTING.md</a:t>
            </a:r>
            <a:endParaRPr lang="en-US" sz="1150" dirty="0"/>
          </a:p>
        </p:txBody>
      </p:sp>
      <p:sp>
        <p:nvSpPr>
          <p:cNvPr id="30" name="Text 28"/>
          <p:cNvSpPr/>
          <p:nvPr/>
        </p:nvSpPr>
        <p:spPr>
          <a:xfrm>
            <a:off x="9189720" y="5394960"/>
            <a:ext cx="2377440" cy="411480"/>
          </a:xfrm>
          <a:prstGeom prst="rect">
            <a:avLst/>
          </a:prstGeom>
          <a:noFill/>
          <a:ln/>
        </p:spPr>
        <p:txBody>
          <a:bodyPr wrap="square" rtlCol="0" anchor="t"/>
          <a:lstStyle/>
          <a:p>
            <a:pPr indent="0" marL="0">
              <a:buNone/>
            </a:pPr>
            <a:r>
              <a:rPr lang="en-US" sz="1000" i="1" dirty="0">
                <a:solidFill>
                  <a:srgbClr val="8B95AD"/>
                </a:solidFill>
                <a:latin typeface="Calibri" pitchFamily="34" charset="0"/>
                <a:ea typeface="Calibri" pitchFamily="34" charset="-122"/>
                <a:cs typeface="Calibri" pitchFamily="34" charset="-120"/>
              </a:rPr>
              <a:t>DCO sign-off · CI green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TapInAuth — Launch Deck</dc:title>
  <dc:subject>PptxGenJS Presentation</dc:subject>
  <dc:creator>TapInAuth</dc:creator>
  <cp:lastModifiedBy>TapInAuth</cp:lastModifiedBy>
  <cp:revision>1</cp:revision>
  <dcterms:created xsi:type="dcterms:W3CDTF">2026-06-01T18:12:02Z</dcterms:created>
  <dcterms:modified xsi:type="dcterms:W3CDTF">2026-06-01T18:12:02Z</dcterms:modified>
</cp:coreProperties>
</file>